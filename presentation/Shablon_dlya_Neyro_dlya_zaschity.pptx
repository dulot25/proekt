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648" r:id="rId1"/>
  </p:sldMasterIdLst>
  <p:notesMasterIdLst>
    <p:notesMasterId r:id="rId16"/>
  </p:notesMasterIdLst>
  <p:sldIdLst>
    <p:sldId id="364" r:id="rId2"/>
    <p:sldId id="366" r:id="rId3"/>
    <p:sldId id="283" r:id="rId4"/>
    <p:sldId id="368" r:id="rId5"/>
    <p:sldId id="362" r:id="rId6"/>
    <p:sldId id="367" r:id="rId7"/>
    <p:sldId id="335" r:id="rId8"/>
    <p:sldId id="266" r:id="rId9"/>
    <p:sldId id="358" r:id="rId10"/>
    <p:sldId id="359" r:id="rId11"/>
    <p:sldId id="370" r:id="rId12"/>
    <p:sldId id="281" r:id="rId13"/>
    <p:sldId id="371" r:id="rId14"/>
    <p:sldId id="365" r:id="rId1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4110" userDrawn="1">
          <p15:clr>
            <a:srgbClr val="A4A3A4"/>
          </p15:clr>
        </p15:guide>
        <p15:guide id="4" orient="horz" pos="255" userDrawn="1">
          <p15:clr>
            <a:srgbClr val="A4A3A4"/>
          </p15:clr>
        </p15:guide>
        <p15:guide id="5" pos="279" userDrawn="1">
          <p15:clr>
            <a:srgbClr val="A4A3A4"/>
          </p15:clr>
        </p15:guide>
        <p15:guide id="6" pos="735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8ECEE"/>
    <a:srgbClr val="1EDDC3"/>
    <a:srgbClr val="383288"/>
    <a:srgbClr val="6460A3"/>
    <a:srgbClr val="38D4D6"/>
    <a:srgbClr val="00FCD6"/>
    <a:srgbClr val="A7FEFF"/>
    <a:srgbClr val="ADD05B"/>
    <a:srgbClr val="00D3A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Стиль из темы 1 - акцент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Стиль из темы 1 - акцент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Стиль из темы 1 - акцент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8FB837D-C827-4EFA-A057-4D05807E0F7C}" styleName="Стиль из темы 1 - акцент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93" autoAdjust="0"/>
    <p:restoredTop sz="91440" autoAdjust="0"/>
  </p:normalViewPr>
  <p:slideViewPr>
    <p:cSldViewPr snapToGrid="0">
      <p:cViewPr varScale="1">
        <p:scale>
          <a:sx n="105" d="100"/>
          <a:sy n="105" d="100"/>
        </p:scale>
        <p:origin x="852" y="126"/>
      </p:cViewPr>
      <p:guideLst>
        <p:guide orient="horz" pos="2160"/>
        <p:guide pos="3840"/>
        <p:guide orient="horz" pos="4110"/>
        <p:guide orient="horz" pos="255"/>
        <p:guide pos="279"/>
        <p:guide pos="735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416EBE-57CE-4EBC-BD57-A999DD88B7D5}" type="datetimeFigureOut">
              <a:rPr lang="ru-RU" smtClean="0"/>
              <a:t>16.04.2026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F0E1ED-FC16-4B0B-8773-5C0CA34C349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93340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F0E1ED-FC16-4B0B-8773-5C0CA34C3495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09892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F0E1ED-FC16-4B0B-8773-5C0CA34C3495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022392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F0E1ED-FC16-4B0B-8773-5C0CA34C3495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83186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D12D1-AC4F-4D91-AA41-88AA8B28C4BE}" type="datetimeFigureOut">
              <a:rPr lang="ru-RU" smtClean="0"/>
              <a:t>16.04.2026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F3A8F-34D8-4C4D-BF8F-7BFCB9C228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374377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D12D1-AC4F-4D91-AA41-88AA8B28C4BE}" type="datetimeFigureOut">
              <a:rPr lang="ru-RU" smtClean="0"/>
              <a:t>16.04.2026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F3A8F-34D8-4C4D-BF8F-7BFCB9C228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23364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D12D1-AC4F-4D91-AA41-88AA8B28C4BE}" type="datetimeFigureOut">
              <a:rPr lang="ru-RU" smtClean="0"/>
              <a:t>16.04.2026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F3A8F-34D8-4C4D-BF8F-7BFCB9C228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788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D12D1-AC4F-4D91-AA41-88AA8B28C4BE}" type="datetimeFigureOut">
              <a:rPr lang="ru-RU" smtClean="0"/>
              <a:t>16.04.2026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F3A8F-34D8-4C4D-BF8F-7BFCB9C228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28171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D12D1-AC4F-4D91-AA41-88AA8B28C4BE}" type="datetimeFigureOut">
              <a:rPr lang="ru-RU" smtClean="0"/>
              <a:t>16.04.2026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F3A8F-34D8-4C4D-BF8F-7BFCB9C228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537693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D12D1-AC4F-4D91-AA41-88AA8B28C4BE}" type="datetimeFigureOut">
              <a:rPr lang="ru-RU" smtClean="0"/>
              <a:t>16.04.2026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F3A8F-34D8-4C4D-BF8F-7BFCB9C228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52014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D12D1-AC4F-4D91-AA41-88AA8B28C4BE}" type="datetimeFigureOut">
              <a:rPr lang="ru-RU" smtClean="0"/>
              <a:t>16.04.2026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F3A8F-34D8-4C4D-BF8F-7BFCB9C228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45993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D12D1-AC4F-4D91-AA41-88AA8B28C4BE}" type="datetimeFigureOut">
              <a:rPr lang="ru-RU" smtClean="0"/>
              <a:t>16.04.2026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F3A8F-34D8-4C4D-BF8F-7BFCB9C228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53177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D12D1-AC4F-4D91-AA41-88AA8B28C4BE}" type="datetimeFigureOut">
              <a:rPr lang="ru-RU" smtClean="0"/>
              <a:t>16.04.2026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F3A8F-34D8-4C4D-BF8F-7BFCB9C228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71869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D12D1-AC4F-4D91-AA41-88AA8B28C4BE}" type="datetimeFigureOut">
              <a:rPr lang="ru-RU" smtClean="0"/>
              <a:t>16.04.2026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F3A8F-34D8-4C4D-BF8F-7BFCB9C228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1158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D12D1-AC4F-4D91-AA41-88AA8B28C4BE}" type="datetimeFigureOut">
              <a:rPr lang="ru-RU" smtClean="0"/>
              <a:t>16.04.2026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F3A8F-34D8-4C4D-BF8F-7BFCB9C228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99866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4D12D1-AC4F-4D91-AA41-88AA8B28C4BE}" type="datetimeFigureOut">
              <a:rPr lang="ru-RU" smtClean="0"/>
              <a:t>16.04.2026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7F3A8F-34D8-4C4D-BF8F-7BFCB9C228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33326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Прямоугольник 80"/>
          <p:cNvSpPr/>
          <p:nvPr/>
        </p:nvSpPr>
        <p:spPr>
          <a:xfrm>
            <a:off x="0" y="1767874"/>
            <a:ext cx="12192000" cy="214451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                                 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242874" y="2180979"/>
            <a:ext cx="898420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5400" b="1" dirty="0">
                <a:solidFill>
                  <a:schemeClr val="bg1"/>
                </a:solidFill>
              </a:rPr>
              <a:t>НАЗВАНИЕ ПРОЕКТА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53B7785-62B4-BD49-B771-31C22AFD7ED1}"/>
              </a:ext>
            </a:extLst>
          </p:cNvPr>
          <p:cNvSpPr txBox="1"/>
          <p:nvPr/>
        </p:nvSpPr>
        <p:spPr>
          <a:xfrm>
            <a:off x="5697415" y="3980534"/>
            <a:ext cx="629062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 smtClean="0">
                <a:solidFill>
                  <a:srgbClr val="383288"/>
                </a:solidFill>
              </a:rPr>
              <a:t>Руководитель:</a:t>
            </a:r>
            <a:endParaRPr lang="ru-RU" sz="2400" b="1" dirty="0">
              <a:solidFill>
                <a:schemeClr val="accent3"/>
              </a:solidFill>
            </a:endParaRPr>
          </a:p>
          <a:p>
            <a:r>
              <a:rPr lang="ru-RU" sz="2400" dirty="0" smtClean="0"/>
              <a:t>Иван Звонарев</a:t>
            </a:r>
            <a:endParaRPr lang="ru-RU" sz="2400" dirty="0"/>
          </a:p>
          <a:p>
            <a:r>
              <a:rPr lang="ru-RU" sz="2400" b="1" dirty="0">
                <a:solidFill>
                  <a:srgbClr val="383288"/>
                </a:solidFill>
              </a:rPr>
              <a:t>Состав команды</a:t>
            </a:r>
            <a:r>
              <a:rPr lang="ru-RU" sz="2400" b="1" dirty="0" smtClean="0">
                <a:solidFill>
                  <a:srgbClr val="383288"/>
                </a:solidFill>
              </a:rPr>
              <a:t>:</a:t>
            </a:r>
          </a:p>
          <a:p>
            <a:r>
              <a:rPr lang="ru-RU" sz="2400" b="1" dirty="0" smtClean="0">
                <a:solidFill>
                  <a:srgbClr val="383288"/>
                </a:solidFill>
              </a:rPr>
              <a:t>Дулотин Никита, </a:t>
            </a:r>
          </a:p>
          <a:p>
            <a:r>
              <a:rPr lang="ru-RU" sz="2400" b="1" dirty="0" smtClean="0">
                <a:solidFill>
                  <a:srgbClr val="383288"/>
                </a:solidFill>
              </a:rPr>
              <a:t>Михаил </a:t>
            </a:r>
            <a:r>
              <a:rPr lang="ru-RU" sz="2400" b="1" dirty="0" err="1" smtClean="0">
                <a:solidFill>
                  <a:srgbClr val="383288"/>
                </a:solidFill>
              </a:rPr>
              <a:t>Чибикиф</a:t>
            </a:r>
            <a:endParaRPr lang="ru-RU" sz="2400" dirty="0"/>
          </a:p>
          <a:p>
            <a:endParaRPr lang="ru-RU" sz="2400" dirty="0">
              <a:solidFill>
                <a:srgbClr val="383288"/>
              </a:solidFill>
            </a:endParaRP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ED721782-467E-4148-A6F6-2CA8396DE786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43079" y="243007"/>
            <a:ext cx="2814825" cy="1278646"/>
          </a:xfrm>
          <a:prstGeom prst="rect">
            <a:avLst/>
          </a:prstGeom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8830B0E4-414D-DE47-963E-2DD4F32F7ECA}"/>
              </a:ext>
            </a:extLst>
          </p:cNvPr>
          <p:cNvSpPr/>
          <p:nvPr/>
        </p:nvSpPr>
        <p:spPr>
          <a:xfrm>
            <a:off x="2944368" y="111561"/>
            <a:ext cx="743055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i="1" dirty="0">
                <a:solidFill>
                  <a:srgbClr val="00B050"/>
                </a:solidFill>
              </a:rPr>
              <a:t> 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5CDA1E0-A1E4-FE4E-A254-8DF024A16A3B}"/>
              </a:ext>
            </a:extLst>
          </p:cNvPr>
          <p:cNvSpPr txBox="1"/>
          <p:nvPr/>
        </p:nvSpPr>
        <p:spPr>
          <a:xfrm>
            <a:off x="4766185" y="6126166"/>
            <a:ext cx="26596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>
                <a:solidFill>
                  <a:srgbClr val="383288"/>
                </a:solidFill>
              </a:rPr>
              <a:t>Ижевск, </a:t>
            </a:r>
            <a:r>
              <a:rPr lang="ru-RU" sz="2400" b="1" dirty="0" smtClean="0">
                <a:solidFill>
                  <a:srgbClr val="383288"/>
                </a:solidFill>
              </a:rPr>
              <a:t>2026</a:t>
            </a:r>
            <a:endParaRPr lang="ru-RU" sz="2400" dirty="0">
              <a:solidFill>
                <a:srgbClr val="383288"/>
              </a:solidFill>
            </a:endParaRP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E12412C0-E968-0E4D-A3B4-5E8D11BCAC8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349711">
            <a:off x="962904" y="4615386"/>
            <a:ext cx="1849559" cy="1849559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50E56C20-812A-E44B-9826-5187E0570C4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563688">
            <a:off x="9874014" y="214387"/>
            <a:ext cx="1682532" cy="1682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11487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663702" y="280897"/>
            <a:ext cx="107750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383288"/>
                </a:solidFill>
              </a:rPr>
              <a:t>[</a:t>
            </a:r>
            <a:r>
              <a:rPr lang="ru-RU" sz="3600" b="1" dirty="0">
                <a:solidFill>
                  <a:srgbClr val="383288"/>
                </a:solidFill>
              </a:rPr>
              <a:t>Аналитика проекта</a:t>
            </a:r>
            <a:r>
              <a:rPr lang="en-US" sz="3600" b="1" dirty="0">
                <a:solidFill>
                  <a:srgbClr val="383288"/>
                </a:solidFill>
              </a:rPr>
              <a:t>]</a:t>
            </a:r>
            <a:endParaRPr lang="ru-RU" sz="3600" b="1" dirty="0">
              <a:solidFill>
                <a:srgbClr val="383288"/>
              </a:solidFill>
            </a:endParaRPr>
          </a:p>
        </p:txBody>
      </p:sp>
      <p:sp>
        <p:nvSpPr>
          <p:cNvPr id="15" name="Прямоугольный треугольник 14"/>
          <p:cNvSpPr/>
          <p:nvPr/>
        </p:nvSpPr>
        <p:spPr>
          <a:xfrm rot="2713161">
            <a:off x="11946107" y="6134323"/>
            <a:ext cx="491786" cy="491786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1EF247B1-10AB-A440-87AF-16DE62F29925}"/>
              </a:ext>
            </a:extLst>
          </p:cNvPr>
          <p:cNvCxnSpPr>
            <a:cxnSpLocks/>
          </p:cNvCxnSpPr>
          <p:nvPr/>
        </p:nvCxnSpPr>
        <p:spPr>
          <a:xfrm>
            <a:off x="-8796" y="6377178"/>
            <a:ext cx="9699180" cy="0"/>
          </a:xfrm>
          <a:prstGeom prst="line">
            <a:avLst/>
          </a:prstGeom>
          <a:ln w="38100"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90E398ED-BF79-4D40-B5D5-979F6EF07747}"/>
              </a:ext>
            </a:extLst>
          </p:cNvPr>
          <p:cNvSpPr txBox="1"/>
          <p:nvPr/>
        </p:nvSpPr>
        <p:spPr>
          <a:xfrm>
            <a:off x="10210800" y="6524625"/>
            <a:ext cx="146526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solidFill>
                  <a:srgbClr val="383288"/>
                </a:solidFill>
              </a:rPr>
              <a:t>[</a:t>
            </a:r>
            <a:r>
              <a:rPr lang="ru-RU" sz="800" b="1" dirty="0">
                <a:solidFill>
                  <a:srgbClr val="383288"/>
                </a:solidFill>
              </a:rPr>
              <a:t>Аналитика проекта</a:t>
            </a:r>
            <a:r>
              <a:rPr lang="en-US" sz="800" b="1" dirty="0">
                <a:solidFill>
                  <a:srgbClr val="383288"/>
                </a:solidFill>
              </a:rPr>
              <a:t>]</a:t>
            </a:r>
            <a:endParaRPr lang="ru-RU" sz="800" b="1" dirty="0">
              <a:solidFill>
                <a:srgbClr val="383288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90C1297-00AC-414A-B811-4E763B3213C3}"/>
              </a:ext>
            </a:extLst>
          </p:cNvPr>
          <p:cNvSpPr txBox="1"/>
          <p:nvPr/>
        </p:nvSpPr>
        <p:spPr>
          <a:xfrm>
            <a:off x="340054" y="6512515"/>
            <a:ext cx="181259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solidFill>
                  <a:srgbClr val="383288"/>
                </a:solidFill>
              </a:rPr>
              <a:t>[</a:t>
            </a:r>
            <a:r>
              <a:rPr lang="ru-RU" sz="800" b="1" dirty="0">
                <a:solidFill>
                  <a:srgbClr val="383288"/>
                </a:solidFill>
              </a:rPr>
              <a:t>Краткое название</a:t>
            </a:r>
            <a:r>
              <a:rPr lang="en-US" sz="800" b="1" dirty="0">
                <a:solidFill>
                  <a:srgbClr val="383288"/>
                </a:solidFill>
              </a:rPr>
              <a:t>]</a:t>
            </a:r>
            <a:endParaRPr lang="ru-RU" sz="800" b="1" dirty="0">
              <a:solidFill>
                <a:srgbClr val="383288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6506F3E-4A74-A849-B5E9-84F3249CC2AA}"/>
              </a:ext>
            </a:extLst>
          </p:cNvPr>
          <p:cNvSpPr txBox="1"/>
          <p:nvPr/>
        </p:nvSpPr>
        <p:spPr>
          <a:xfrm>
            <a:off x="5401722" y="6512515"/>
            <a:ext cx="156000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800" b="1" dirty="0">
                <a:solidFill>
                  <a:srgbClr val="38D4D6"/>
                </a:solidFill>
              </a:rPr>
              <a:t>НАПРАВЛЕНИЕ НЕЙРО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C31ABD38-8C1F-B348-ABB6-7CDBD7C7B4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122" y="1407270"/>
            <a:ext cx="166904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rgbClr val="00D3AA"/>
                </a:solidFill>
                <a:effectLst/>
              </a:rPr>
              <a:t>ПРОБЛЕМА</a:t>
            </a:r>
            <a:endParaRPr kumimoji="0" lang="ru-RU" altLang="ru-RU" sz="121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91AAE3D5-FD47-E24B-9C89-6B2CD5851ABE}"/>
              </a:ext>
            </a:extLst>
          </p:cNvPr>
          <p:cNvPicPr>
            <a:picLocks/>
          </p:cNvPicPr>
          <p:nvPr/>
        </p:nvPicPr>
        <p:blipFill>
          <a:blip r:embed="rId3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449" y="1234565"/>
            <a:ext cx="673425" cy="673425"/>
          </a:xfrm>
          <a:prstGeom prst="rect">
            <a:avLst/>
          </a:prstGeom>
        </p:spPr>
      </p:pic>
      <p:sp>
        <p:nvSpPr>
          <p:cNvPr id="20" name="Rectangle 6">
            <a:extLst>
              <a:ext uri="{FF2B5EF4-FFF2-40B4-BE49-F238E27FC236}">
                <a16:creationId xmlns:a16="http://schemas.microsoft.com/office/drawing/2014/main" id="{4F66F9BF-3408-DE43-808F-59DE0EB8EC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7846" y="2509240"/>
            <a:ext cx="230704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b="1" dirty="0">
                <a:solidFill>
                  <a:srgbClr val="00D3AA"/>
                </a:solidFill>
              </a:rPr>
              <a:t>АКТУАЛЬНОСТЬ</a:t>
            </a:r>
            <a:endParaRPr kumimoji="0" lang="ru-RU" altLang="ru-RU" sz="121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930C3F53-C453-2E49-B2F6-908D079BD8B1}"/>
              </a:ext>
            </a:extLst>
          </p:cNvPr>
          <p:cNvPicPr>
            <a:picLocks/>
          </p:cNvPicPr>
          <p:nvPr/>
        </p:nvPicPr>
        <p:blipFill>
          <a:blip r:embed="rId4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261" y="2215327"/>
            <a:ext cx="789211" cy="789211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D992ABB6-7CF4-8543-90C9-D54106C1F300}"/>
              </a:ext>
            </a:extLst>
          </p:cNvPr>
          <p:cNvPicPr>
            <a:picLocks/>
          </p:cNvPicPr>
          <p:nvPr/>
        </p:nvPicPr>
        <p:blipFill>
          <a:blip r:embed="rId5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644" y="3530293"/>
            <a:ext cx="781036" cy="781036"/>
          </a:xfrm>
          <a:prstGeom prst="rect">
            <a:avLst/>
          </a:prstGeom>
        </p:spPr>
      </p:pic>
      <p:sp>
        <p:nvSpPr>
          <p:cNvPr id="23" name="Rectangle 6">
            <a:extLst>
              <a:ext uri="{FF2B5EF4-FFF2-40B4-BE49-F238E27FC236}">
                <a16:creationId xmlns:a16="http://schemas.microsoft.com/office/drawing/2014/main" id="{AE19C1D5-3AFB-6148-ABDB-EF86909A9A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1982" y="3648554"/>
            <a:ext cx="2600392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b="1" dirty="0">
                <a:solidFill>
                  <a:srgbClr val="00D3AA"/>
                </a:solidFill>
              </a:rPr>
              <a:t>СУЩЕСТВУЮЩИЕ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b="1" dirty="0">
                <a:solidFill>
                  <a:srgbClr val="00D3AA"/>
                </a:solidFill>
              </a:rPr>
              <a:t>РЕШЕНИЯ</a:t>
            </a:r>
            <a:endParaRPr kumimoji="0" lang="ru-RU" altLang="ru-RU" sz="121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sp>
        <p:nvSpPr>
          <p:cNvPr id="24" name="Rectangle 6">
            <a:extLst>
              <a:ext uri="{FF2B5EF4-FFF2-40B4-BE49-F238E27FC236}">
                <a16:creationId xmlns:a16="http://schemas.microsoft.com/office/drawing/2014/main" id="{AC9BCEE2-CE60-5B4D-B871-8A69C6CE85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3060" y="2269585"/>
            <a:ext cx="6138219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sz="1600" dirty="0"/>
              <a:t>До сих пор не существует рекомендательной системы,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sz="1600" dirty="0"/>
              <a:t>оперирующей достаточным для картинных галерей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sz="1600" dirty="0"/>
              <a:t>количеством эмоциональных реакций пользователя. </a:t>
            </a:r>
            <a:endParaRPr kumimoji="0" lang="ru-RU" altLang="ru-RU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sp>
        <p:nvSpPr>
          <p:cNvPr id="25" name="Rectangle 6">
            <a:extLst>
              <a:ext uri="{FF2B5EF4-FFF2-40B4-BE49-F238E27FC236}">
                <a16:creationId xmlns:a16="http://schemas.microsoft.com/office/drawing/2014/main" id="{F4E024B2-AB61-4049-A8D3-86E3232D50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7195" y="3512232"/>
            <a:ext cx="4437433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ru-RU" sz="1600" dirty="0"/>
              <a:t>- рекомендация музыки на </a:t>
            </a:r>
            <a:r>
              <a:rPr lang="en-US" sz="1600" dirty="0" err="1"/>
              <a:t>Last.fm</a:t>
            </a:r>
            <a:endParaRPr lang="en-US" sz="1600" dirty="0"/>
          </a:p>
          <a:p>
            <a:r>
              <a:rPr lang="ru-RU" sz="1600" dirty="0"/>
              <a:t>- рекомендация товаров на </a:t>
            </a:r>
            <a:r>
              <a:rPr lang="en-US" sz="1600" dirty="0"/>
              <a:t>Amazon</a:t>
            </a:r>
          </a:p>
          <a:p>
            <a:r>
              <a:rPr lang="ru-RU" sz="1600" dirty="0"/>
              <a:t>- рекомендация фильмов на </a:t>
            </a:r>
            <a:r>
              <a:rPr lang="en-US" sz="1600" dirty="0" err="1"/>
              <a:t>netflix.com</a:t>
            </a:r>
            <a:endParaRPr lang="en-US" sz="1600" dirty="0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A7ABE6C7-9A2B-C64F-B4C8-22F9A0C93831}"/>
              </a:ext>
            </a:extLst>
          </p:cNvPr>
          <p:cNvSpPr/>
          <p:nvPr/>
        </p:nvSpPr>
        <p:spPr>
          <a:xfrm>
            <a:off x="5017195" y="1402000"/>
            <a:ext cx="6096000" cy="33855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altLang="ru-RU" sz="1600" dirty="0">
                <a:solidFill>
                  <a:srgbClr val="000000"/>
                </a:solidFill>
              </a:rPr>
              <a:t>Пользовательская персонализация картинных галерей </a:t>
            </a:r>
            <a:endParaRPr lang="ru-RU" sz="1600" dirty="0"/>
          </a:p>
        </p:txBody>
      </p:sp>
      <p:sp>
        <p:nvSpPr>
          <p:cNvPr id="27" name="Rectangle 6">
            <a:extLst>
              <a:ext uri="{FF2B5EF4-FFF2-40B4-BE49-F238E27FC236}">
                <a16:creationId xmlns:a16="http://schemas.microsoft.com/office/drawing/2014/main" id="{C4939319-F42C-894D-8867-8DDE9DC7EE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118" y="4715355"/>
            <a:ext cx="188224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b="1" dirty="0">
                <a:solidFill>
                  <a:srgbClr val="00D3AA"/>
                </a:solidFill>
              </a:rPr>
              <a:t>ПРОРЫВНОЕ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b="1" dirty="0">
                <a:solidFill>
                  <a:srgbClr val="00D3AA"/>
                </a:solidFill>
              </a:rPr>
              <a:t>РЕШЕНИЕ</a:t>
            </a:r>
            <a:endParaRPr kumimoji="0" lang="ru-RU" altLang="ru-RU" sz="121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9C8D3AB3-43B5-4E4B-B4DB-253C57A436BF}"/>
              </a:ext>
            </a:extLst>
          </p:cNvPr>
          <p:cNvPicPr>
            <a:picLocks/>
          </p:cNvPicPr>
          <p:nvPr/>
        </p:nvPicPr>
        <p:blipFill>
          <a:blip r:embed="rId6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486" y="4700394"/>
            <a:ext cx="739986" cy="739986"/>
          </a:xfrm>
          <a:prstGeom prst="rect">
            <a:avLst/>
          </a:prstGeom>
        </p:spPr>
      </p:pic>
      <p:sp>
        <p:nvSpPr>
          <p:cNvPr id="29" name="Rectangle 6">
            <a:extLst>
              <a:ext uri="{FF2B5EF4-FFF2-40B4-BE49-F238E27FC236}">
                <a16:creationId xmlns:a16="http://schemas.microsoft.com/office/drawing/2014/main" id="{0872EB2B-A03B-C240-B94E-5C98650839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8918" y="4684557"/>
            <a:ext cx="484619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ru-RU" sz="1600" dirty="0"/>
              <a:t>создать систему, учитывающую сложность </a:t>
            </a:r>
          </a:p>
          <a:p>
            <a:r>
              <a:rPr lang="ru-RU" sz="1600" dirty="0"/>
              <a:t>человеческих реакций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5795436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TextBox 9"/>
          <p:cNvSpPr txBox="1"/>
          <p:nvPr/>
        </p:nvSpPr>
        <p:spPr>
          <a:xfrm>
            <a:off x="6396784" y="133515"/>
            <a:ext cx="67787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383288"/>
                </a:solidFill>
              </a:rPr>
              <a:t>[</a:t>
            </a:r>
            <a:r>
              <a:rPr lang="ru-RU" sz="3600" b="1" dirty="0">
                <a:solidFill>
                  <a:srgbClr val="383288"/>
                </a:solidFill>
              </a:rPr>
              <a:t>Описание проекта</a:t>
            </a:r>
            <a:r>
              <a:rPr lang="en-US" sz="3600" b="1" dirty="0">
                <a:solidFill>
                  <a:srgbClr val="383288"/>
                </a:solidFill>
              </a:rPr>
              <a:t>]</a:t>
            </a:r>
            <a:endParaRPr lang="ru-RU" sz="3600" b="1" dirty="0">
              <a:solidFill>
                <a:srgbClr val="383288"/>
              </a:solidFill>
            </a:endParaRPr>
          </a:p>
        </p:txBody>
      </p:sp>
      <p:sp>
        <p:nvSpPr>
          <p:cNvPr id="14" name="Прямоугольник 13"/>
          <p:cNvSpPr/>
          <p:nvPr/>
        </p:nvSpPr>
        <p:spPr>
          <a:xfrm>
            <a:off x="0" y="0"/>
            <a:ext cx="216470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2" name="Группа 1"/>
          <p:cNvGrpSpPr/>
          <p:nvPr/>
        </p:nvGrpSpPr>
        <p:grpSpPr>
          <a:xfrm>
            <a:off x="9801247" y="3574297"/>
            <a:ext cx="2635727" cy="3381380"/>
            <a:chOff x="9801247" y="3574297"/>
            <a:chExt cx="2635727" cy="3381380"/>
          </a:xfrm>
          <a:solidFill>
            <a:schemeClr val="accent6"/>
          </a:solidFill>
        </p:grpSpPr>
        <p:sp>
          <p:nvSpPr>
            <p:cNvPr id="16" name="Прямоугольный треугольник 15"/>
            <p:cNvSpPr/>
            <p:nvPr/>
          </p:nvSpPr>
          <p:spPr>
            <a:xfrm rot="13510417">
              <a:off x="10870854" y="4374358"/>
              <a:ext cx="932316" cy="932316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7" name="Прямоугольный треугольник 36"/>
            <p:cNvSpPr/>
            <p:nvPr/>
          </p:nvSpPr>
          <p:spPr>
            <a:xfrm rot="16200000">
              <a:off x="10415717" y="5103353"/>
              <a:ext cx="1776283" cy="1776283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" name="Прямоугольный треугольник 18"/>
            <p:cNvSpPr/>
            <p:nvPr/>
          </p:nvSpPr>
          <p:spPr>
            <a:xfrm rot="2713161">
              <a:off x="11945188" y="3829630"/>
              <a:ext cx="491786" cy="491786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9" name="Прямоугольный треугольник 38"/>
            <p:cNvSpPr/>
            <p:nvPr/>
          </p:nvSpPr>
          <p:spPr>
            <a:xfrm rot="2713161">
              <a:off x="10148925" y="5593093"/>
              <a:ext cx="230485" cy="230485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0" name="Прямоугольный треугольник 39"/>
            <p:cNvSpPr/>
            <p:nvPr/>
          </p:nvSpPr>
          <p:spPr>
            <a:xfrm rot="10649316">
              <a:off x="10724440" y="5876251"/>
              <a:ext cx="230485" cy="230485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1" name="Прямоугольный треугольник 40"/>
            <p:cNvSpPr/>
            <p:nvPr/>
          </p:nvSpPr>
          <p:spPr>
            <a:xfrm rot="10800000">
              <a:off x="11381272" y="3574297"/>
              <a:ext cx="230485" cy="230485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2" name="Прямоугольный треугольник 41"/>
            <p:cNvSpPr/>
            <p:nvPr/>
          </p:nvSpPr>
          <p:spPr>
            <a:xfrm rot="5400000">
              <a:off x="10745530" y="5124987"/>
              <a:ext cx="331978" cy="331978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3" name="Прямоугольный треугольник 42"/>
            <p:cNvSpPr/>
            <p:nvPr/>
          </p:nvSpPr>
          <p:spPr>
            <a:xfrm rot="8098597">
              <a:off x="9801247" y="6420386"/>
              <a:ext cx="535291" cy="535291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3" name="Группа 2"/>
          <p:cNvGrpSpPr/>
          <p:nvPr/>
        </p:nvGrpSpPr>
        <p:grpSpPr>
          <a:xfrm rot="16200000">
            <a:off x="1573146" y="-207619"/>
            <a:ext cx="2253951" cy="2108727"/>
            <a:chOff x="1946747" y="-362880"/>
            <a:chExt cx="2253951" cy="2108727"/>
          </a:xfrm>
          <a:solidFill>
            <a:schemeClr val="accent6"/>
          </a:solidFill>
        </p:grpSpPr>
        <p:sp>
          <p:nvSpPr>
            <p:cNvPr id="15" name="Прямоугольный треугольник 14"/>
            <p:cNvSpPr/>
            <p:nvPr/>
          </p:nvSpPr>
          <p:spPr>
            <a:xfrm rot="5400000">
              <a:off x="2994908" y="1436783"/>
              <a:ext cx="309064" cy="309064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" name="Прямоугольный треугольник 16"/>
            <p:cNvSpPr/>
            <p:nvPr/>
          </p:nvSpPr>
          <p:spPr>
            <a:xfrm rot="10800000">
              <a:off x="1946747" y="927077"/>
              <a:ext cx="592037" cy="592037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" name="Прямоугольный треугольник 17"/>
            <p:cNvSpPr/>
            <p:nvPr/>
          </p:nvSpPr>
          <p:spPr>
            <a:xfrm rot="2698663">
              <a:off x="3640240" y="851726"/>
              <a:ext cx="560458" cy="560458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0" name="Прямоугольный треугольник 19"/>
            <p:cNvSpPr/>
            <p:nvPr/>
          </p:nvSpPr>
          <p:spPr>
            <a:xfrm rot="18911141">
              <a:off x="2425390" y="-362880"/>
              <a:ext cx="1016437" cy="1016437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055C50F3-5B04-2D47-9418-0E6DD0E19956}"/>
              </a:ext>
            </a:extLst>
          </p:cNvPr>
          <p:cNvSpPr/>
          <p:nvPr/>
        </p:nvSpPr>
        <p:spPr>
          <a:xfrm>
            <a:off x="5962790" y="3244334"/>
            <a:ext cx="2664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rgbClr val="000000"/>
                </a:solidFill>
              </a:rPr>
              <a:t> </a:t>
            </a:r>
            <a:endParaRPr lang="ru-RU" dirty="0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3FFC0352-520B-9044-83C9-5C25DF3DAF4F}"/>
              </a:ext>
            </a:extLst>
          </p:cNvPr>
          <p:cNvSpPr/>
          <p:nvPr/>
        </p:nvSpPr>
        <p:spPr>
          <a:xfrm>
            <a:off x="5962790" y="3244334"/>
            <a:ext cx="2664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rgbClr val="000000"/>
                </a:solidFill>
              </a:rPr>
              <a:t> </a:t>
            </a:r>
            <a:endParaRPr lang="ru-RU" dirty="0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83D30F53-D553-A544-8611-B7162950712F}"/>
              </a:ext>
            </a:extLst>
          </p:cNvPr>
          <p:cNvSpPr/>
          <p:nvPr/>
        </p:nvSpPr>
        <p:spPr>
          <a:xfrm>
            <a:off x="5962790" y="3244334"/>
            <a:ext cx="2664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rgbClr val="000000"/>
                </a:solidFill>
              </a:rPr>
              <a:t> </a:t>
            </a:r>
            <a:endParaRPr lang="ru-RU" dirty="0"/>
          </a:p>
        </p:txBody>
      </p:sp>
      <p:cxnSp>
        <p:nvCxnSpPr>
          <p:cNvPr id="28" name="Прямая соединительная линия 27">
            <a:extLst>
              <a:ext uri="{FF2B5EF4-FFF2-40B4-BE49-F238E27FC236}">
                <a16:creationId xmlns:a16="http://schemas.microsoft.com/office/drawing/2014/main" id="{385EEE3D-3448-2244-8B8B-05B86C7396A3}"/>
              </a:ext>
            </a:extLst>
          </p:cNvPr>
          <p:cNvCxnSpPr>
            <a:cxnSpLocks/>
          </p:cNvCxnSpPr>
          <p:nvPr/>
        </p:nvCxnSpPr>
        <p:spPr>
          <a:xfrm>
            <a:off x="-8796" y="6377178"/>
            <a:ext cx="9699180" cy="0"/>
          </a:xfrm>
          <a:prstGeom prst="line">
            <a:avLst/>
          </a:prstGeom>
          <a:ln w="38100"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0" name="Таблица 29">
            <a:extLst>
              <a:ext uri="{FF2B5EF4-FFF2-40B4-BE49-F238E27FC236}">
                <a16:creationId xmlns:a16="http://schemas.microsoft.com/office/drawing/2014/main" id="{21FA30A3-EFAA-9E4A-9FEC-8D28303E4D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2746265"/>
              </p:ext>
            </p:extLst>
          </p:nvPr>
        </p:nvGraphicFramePr>
        <p:xfrm>
          <a:off x="593936" y="977640"/>
          <a:ext cx="10787336" cy="5049194"/>
        </p:xfrm>
        <a:graphic>
          <a:graphicData uri="http://schemas.openxmlformats.org/drawingml/2006/table">
            <a:tbl>
              <a:tblPr>
                <a:tableStyleId>{08FB837D-C827-4EFA-A057-4D05807E0F7C}</a:tableStyleId>
              </a:tblPr>
              <a:tblGrid>
                <a:gridCol w="19430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443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6714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u="none" strike="noStrike" dirty="0">
                          <a:solidFill>
                            <a:srgbClr val="383288"/>
                          </a:solidFill>
                          <a:effectLst/>
                        </a:rPr>
                        <a:t>Цель проекта</a:t>
                      </a:r>
                      <a:endParaRPr lang="ru-RU" sz="1600" b="1" dirty="0">
                        <a:solidFill>
                          <a:srgbClr val="383288"/>
                        </a:solidFill>
                        <a:effectLst/>
                        <a:latin typeface="+mn-lt"/>
                      </a:endParaRPr>
                    </a:p>
                  </a:txBody>
                  <a:tcPr marL="76200" marR="76200" marT="76200" marB="762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u="none" strike="noStrike" kern="1200" dirty="0">
                          <a:effectLst/>
                        </a:rPr>
                        <a:t>Автоматизированное создание экспозиции на основе эмоциональных оценок</a:t>
                      </a:r>
                      <a:endParaRPr lang="ru-RU" sz="1600" dirty="0">
                        <a:solidFill>
                          <a:srgbClr val="383288"/>
                        </a:solidFill>
                        <a:effectLst/>
                        <a:latin typeface="+mn-lt"/>
                      </a:endParaRPr>
                    </a:p>
                  </a:txBody>
                  <a:tcPr marL="76200" marR="76200" marT="76200" marB="7620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9699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u="none" strike="noStrike" dirty="0">
                          <a:solidFill>
                            <a:srgbClr val="383288"/>
                          </a:solidFill>
                          <a:effectLst/>
                        </a:rPr>
                        <a:t>Список задач</a:t>
                      </a:r>
                      <a:endParaRPr lang="ru-RU" sz="1600" b="1" dirty="0">
                        <a:solidFill>
                          <a:srgbClr val="383288"/>
                        </a:solidFill>
                        <a:effectLst/>
                        <a:latin typeface="+mn-lt"/>
                      </a:endParaRPr>
                    </a:p>
                  </a:txBody>
                  <a:tcPr marL="76200" marR="76200" marT="76200" marB="762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ase"/>
                      <a:r>
                        <a:rPr lang="ru-RU" sz="1600" u="none" strike="noStrike" kern="1200" dirty="0">
                          <a:effectLst/>
                        </a:rPr>
                        <a:t>- Предварительная обработка данных</a:t>
                      </a:r>
                    </a:p>
                    <a:p>
                      <a:pPr rtl="0" fontAlgn="base"/>
                      <a:r>
                        <a:rPr lang="ru-RU" sz="1600" u="none" strike="noStrike" kern="1200" dirty="0">
                          <a:effectLst/>
                        </a:rPr>
                        <a:t>- Создание рекомендательной системы, предсказывающей эмоциональную реакцию пользователей на картины на основе латентных моделей</a:t>
                      </a:r>
                    </a:p>
                    <a:p>
                      <a:pPr rtl="0" fontAlgn="base"/>
                      <a:r>
                        <a:rPr lang="ru-RU" sz="1600" u="none" strike="noStrike" kern="1200" dirty="0">
                          <a:effectLst/>
                        </a:rPr>
                        <a:t>- Визуализация результатов работы алгоритма в виде коллажа-фрактала имеющейся базы картин с учетом индивидуальных предпочтений пользователя</a:t>
                      </a:r>
                    </a:p>
                    <a:p>
                      <a:pPr rtl="0" fontAlgn="base"/>
                      <a:r>
                        <a:rPr lang="ru-RU" sz="1600" u="none" strike="noStrike" kern="1200" dirty="0">
                          <a:effectLst/>
                        </a:rPr>
                        <a:t>- Создание пользовательского интерфейса</a:t>
                      </a:r>
                      <a:endParaRPr lang="ru-RU" sz="1600" b="0" i="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76200" marB="7620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49688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u="none" strike="noStrike" dirty="0">
                          <a:solidFill>
                            <a:srgbClr val="383288"/>
                          </a:solidFill>
                          <a:effectLst/>
                        </a:rPr>
                        <a:t>Методы</a:t>
                      </a:r>
                      <a:endParaRPr lang="ru-RU" sz="1600" b="1" dirty="0">
                        <a:solidFill>
                          <a:srgbClr val="383288"/>
                        </a:solidFill>
                        <a:effectLst/>
                        <a:latin typeface="+mn-lt"/>
                      </a:endParaRPr>
                    </a:p>
                  </a:txBody>
                  <a:tcPr marL="76200" marR="76200" marT="76200" marB="762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ase"/>
                      <a:r>
                        <a:rPr lang="ru-RU" sz="1600" u="none" strike="noStrike" kern="1200" dirty="0">
                          <a:effectLst/>
                        </a:rPr>
                        <a:t>методы генерации случайных величин</a:t>
                      </a:r>
                    </a:p>
                    <a:p>
                      <a:pPr rtl="0" fontAlgn="base"/>
                      <a:r>
                        <a:rPr lang="ru-RU" sz="1600" u="none" strike="noStrike" kern="1200" dirty="0">
                          <a:effectLst/>
                        </a:rPr>
                        <a:t>латентные методы рекомендательных систем </a:t>
                      </a:r>
                    </a:p>
                    <a:p>
                      <a:pPr rtl="0" fontAlgn="base"/>
                      <a:r>
                        <a:rPr lang="ru-RU" sz="1600" u="none" strike="noStrike" kern="1200" dirty="0">
                          <a:effectLst/>
                        </a:rPr>
                        <a:t>модифицированный метод сингулярного разложения матриц</a:t>
                      </a:r>
                    </a:p>
                    <a:p>
                      <a:pPr rtl="0" fontAlgn="base"/>
                      <a:r>
                        <a:rPr lang="ru-RU" sz="1600" u="none" strike="noStrike" kern="1200" dirty="0">
                          <a:effectLst/>
                        </a:rPr>
                        <a:t>метод стохастического градиента</a:t>
                      </a:r>
                    </a:p>
                    <a:p>
                      <a:pPr rtl="0" fontAlgn="base"/>
                      <a:r>
                        <a:rPr lang="ru-RU" sz="1600" u="none" strike="noStrike" kern="1200" dirty="0">
                          <a:effectLst/>
                        </a:rPr>
                        <a:t>методы визуализации</a:t>
                      </a:r>
                      <a:endParaRPr lang="ru-RU" sz="1600" b="0" i="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76200" marB="7620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9699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u="none" strike="noStrike" dirty="0">
                          <a:solidFill>
                            <a:srgbClr val="383288"/>
                          </a:solidFill>
                          <a:effectLst/>
                        </a:rPr>
                        <a:t>Программное обеспечение</a:t>
                      </a:r>
                      <a:endParaRPr lang="ru-RU" sz="1600" b="1" dirty="0">
                        <a:solidFill>
                          <a:srgbClr val="383288"/>
                        </a:solidFill>
                        <a:effectLst/>
                        <a:latin typeface="+mn-lt"/>
                      </a:endParaRPr>
                    </a:p>
                  </a:txBody>
                  <a:tcPr marL="76200" marR="76200" marT="76200" marB="762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 u="none" strike="noStrike" kern="1200" dirty="0">
                          <a:effectLst/>
                        </a:rPr>
                        <a:t>Python 3.5 </a:t>
                      </a:r>
                      <a:r>
                        <a:rPr lang="ru-RU" sz="1600" u="none" strike="noStrike" kern="1200" dirty="0">
                          <a:effectLst/>
                        </a:rPr>
                        <a:t>с оболочкой </a:t>
                      </a:r>
                      <a:r>
                        <a:rPr lang="en-US" sz="1600" u="none" strike="noStrike" kern="1200" dirty="0">
                          <a:effectLst/>
                        </a:rPr>
                        <a:t>iPyNotebook</a:t>
                      </a:r>
                    </a:p>
                    <a:p>
                      <a:pPr rtl="0" fontAlgn="base"/>
                      <a:r>
                        <a:rPr lang="ru-RU" sz="1600" u="none" strike="noStrike" kern="1200" dirty="0">
                          <a:effectLst/>
                        </a:rPr>
                        <a:t>библиотека </a:t>
                      </a:r>
                      <a:r>
                        <a:rPr lang="en-US" sz="1600" u="none" strike="noStrike" kern="1200" dirty="0">
                          <a:effectLst/>
                        </a:rPr>
                        <a:t>numpy </a:t>
                      </a:r>
                      <a:r>
                        <a:rPr lang="ru-RU" sz="1600" u="none" strike="noStrike" kern="1200" dirty="0">
                          <a:effectLst/>
                        </a:rPr>
                        <a:t>для матричных вычислений и реализации ряда математических функций</a:t>
                      </a:r>
                    </a:p>
                    <a:p>
                      <a:pPr rtl="0" fontAlgn="base"/>
                      <a:r>
                        <a:rPr lang="ru-RU" sz="1600" u="none" strike="noStrike" kern="1200" dirty="0">
                          <a:effectLst/>
                        </a:rPr>
                        <a:t>библиотека </a:t>
                      </a:r>
                      <a:r>
                        <a:rPr lang="en-US" sz="1600" u="none" strike="noStrike" kern="1200" dirty="0">
                          <a:effectLst/>
                        </a:rPr>
                        <a:t>pandas </a:t>
                      </a:r>
                      <a:r>
                        <a:rPr lang="ru-RU" sz="1600" u="none" strike="noStrike" kern="1200" dirty="0">
                          <a:effectLst/>
                        </a:rPr>
                        <a:t>для работы с табличными базами данных </a:t>
                      </a:r>
                    </a:p>
                    <a:p>
                      <a:pPr rtl="0" fontAlgn="base"/>
                      <a:r>
                        <a:rPr lang="ru-RU" sz="1600" u="none" strike="noStrike" kern="1200" dirty="0">
                          <a:effectLst/>
                        </a:rPr>
                        <a:t>библиотека </a:t>
                      </a:r>
                      <a:r>
                        <a:rPr lang="en-US" sz="1600" u="none" strike="noStrike" kern="1200" dirty="0">
                          <a:effectLst/>
                        </a:rPr>
                        <a:t>matplotlib </a:t>
                      </a:r>
                      <a:r>
                        <a:rPr lang="ru-RU" sz="1600" u="none" strike="noStrike" kern="1200" dirty="0">
                          <a:effectLst/>
                        </a:rPr>
                        <a:t>для визуализации данных </a:t>
                      </a:r>
                    </a:p>
                    <a:p>
                      <a:pPr rtl="0" fontAlgn="base"/>
                      <a:r>
                        <a:rPr lang="ru-RU" sz="1600" u="none" strike="noStrike" kern="1200" dirty="0">
                          <a:effectLst/>
                        </a:rPr>
                        <a:t>библиотека </a:t>
                      </a:r>
                      <a:r>
                        <a:rPr lang="en-US" sz="1600" u="none" strike="noStrike" kern="1200" dirty="0">
                          <a:effectLst/>
                        </a:rPr>
                        <a:t>pillow </a:t>
                      </a:r>
                      <a:r>
                        <a:rPr lang="ru-RU" sz="1600" u="none" strike="noStrike" kern="1200" dirty="0">
                          <a:effectLst/>
                        </a:rPr>
                        <a:t>для обработки графики и изображений </a:t>
                      </a:r>
                      <a:r>
                        <a:rPr lang="en-US" sz="1600" u="none" strike="noStrike" kern="1200" dirty="0">
                          <a:effectLst/>
                        </a:rPr>
                        <a:t>Java </a:t>
                      </a:r>
                      <a:endParaRPr lang="en-US" sz="1600" b="0" i="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76200" marB="7620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7" name="TextBox 26">
            <a:extLst>
              <a:ext uri="{FF2B5EF4-FFF2-40B4-BE49-F238E27FC236}">
                <a16:creationId xmlns:a16="http://schemas.microsoft.com/office/drawing/2014/main" id="{90E398ED-BF79-4D40-B5D5-979F6EF07747}"/>
              </a:ext>
            </a:extLst>
          </p:cNvPr>
          <p:cNvSpPr txBox="1"/>
          <p:nvPr/>
        </p:nvSpPr>
        <p:spPr>
          <a:xfrm>
            <a:off x="10210800" y="6524625"/>
            <a:ext cx="146526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smtClean="0">
                <a:solidFill>
                  <a:srgbClr val="383288"/>
                </a:solidFill>
              </a:rPr>
              <a:t>[</a:t>
            </a:r>
            <a:r>
              <a:rPr lang="ru-RU" sz="800" b="1" smtClean="0">
                <a:solidFill>
                  <a:srgbClr val="383288"/>
                </a:solidFill>
              </a:rPr>
              <a:t>Описание </a:t>
            </a:r>
            <a:r>
              <a:rPr lang="ru-RU" sz="800" b="1" dirty="0">
                <a:solidFill>
                  <a:srgbClr val="383288"/>
                </a:solidFill>
              </a:rPr>
              <a:t>проекта</a:t>
            </a:r>
            <a:r>
              <a:rPr lang="en-US" sz="800" b="1" dirty="0">
                <a:solidFill>
                  <a:srgbClr val="383288"/>
                </a:solidFill>
              </a:rPr>
              <a:t>]</a:t>
            </a:r>
            <a:endParaRPr lang="ru-RU" sz="800" b="1" dirty="0">
              <a:solidFill>
                <a:srgbClr val="383288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90C1297-00AC-414A-B811-4E763B3213C3}"/>
              </a:ext>
            </a:extLst>
          </p:cNvPr>
          <p:cNvSpPr txBox="1"/>
          <p:nvPr/>
        </p:nvSpPr>
        <p:spPr>
          <a:xfrm>
            <a:off x="340054" y="6512515"/>
            <a:ext cx="181259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solidFill>
                  <a:srgbClr val="383288"/>
                </a:solidFill>
              </a:rPr>
              <a:t>[</a:t>
            </a:r>
            <a:r>
              <a:rPr lang="ru-RU" sz="800" b="1" dirty="0">
                <a:solidFill>
                  <a:srgbClr val="383288"/>
                </a:solidFill>
              </a:rPr>
              <a:t>Краткое название</a:t>
            </a:r>
            <a:r>
              <a:rPr lang="en-US" sz="800" b="1" dirty="0">
                <a:solidFill>
                  <a:srgbClr val="383288"/>
                </a:solidFill>
              </a:rPr>
              <a:t>]</a:t>
            </a:r>
            <a:endParaRPr lang="ru-RU" sz="800" b="1" dirty="0">
              <a:solidFill>
                <a:srgbClr val="383288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6506F3E-4A74-A849-B5E9-84F3249CC2AA}"/>
              </a:ext>
            </a:extLst>
          </p:cNvPr>
          <p:cNvSpPr txBox="1"/>
          <p:nvPr/>
        </p:nvSpPr>
        <p:spPr>
          <a:xfrm>
            <a:off x="5401722" y="6512515"/>
            <a:ext cx="156000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800" b="1" dirty="0">
                <a:solidFill>
                  <a:srgbClr val="38D4D6"/>
                </a:solidFill>
              </a:rPr>
              <a:t>НАПРАВЛЕНИЕ НЕЙРО</a:t>
            </a:r>
          </a:p>
        </p:txBody>
      </p:sp>
    </p:spTree>
    <p:extLst>
      <p:ext uri="{BB962C8B-B14F-4D97-AF65-F5344CB8AC3E}">
        <p14:creationId xmlns:p14="http://schemas.microsoft.com/office/powerpoint/2010/main" val="30649504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5029200" y="280897"/>
            <a:ext cx="64095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383288"/>
                </a:solidFill>
              </a:rPr>
              <a:t>[</a:t>
            </a:r>
            <a:r>
              <a:rPr lang="ru-RU" sz="3600" b="1" dirty="0">
                <a:solidFill>
                  <a:srgbClr val="383288"/>
                </a:solidFill>
              </a:rPr>
              <a:t>Архитектура проекта</a:t>
            </a:r>
            <a:r>
              <a:rPr lang="en-US" sz="3600" b="1" dirty="0">
                <a:solidFill>
                  <a:srgbClr val="383288"/>
                </a:solidFill>
              </a:rPr>
              <a:t>]</a:t>
            </a:r>
            <a:endParaRPr lang="ru-RU" sz="3600" b="1" dirty="0">
              <a:solidFill>
                <a:srgbClr val="383288"/>
              </a:solidFill>
            </a:endParaRPr>
          </a:p>
        </p:txBody>
      </p:sp>
      <p:sp>
        <p:nvSpPr>
          <p:cNvPr id="14" name="Прямоугольный треугольник 13"/>
          <p:cNvSpPr/>
          <p:nvPr/>
        </p:nvSpPr>
        <p:spPr>
          <a:xfrm rot="13510417">
            <a:off x="-438329" y="180498"/>
            <a:ext cx="873898" cy="873898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ый треугольник 14"/>
          <p:cNvSpPr/>
          <p:nvPr/>
        </p:nvSpPr>
        <p:spPr>
          <a:xfrm rot="2713161">
            <a:off x="11946107" y="6134323"/>
            <a:ext cx="491786" cy="491786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02AD665B-FC6A-2049-8833-472019BBC822}"/>
              </a:ext>
            </a:extLst>
          </p:cNvPr>
          <p:cNvCxnSpPr>
            <a:cxnSpLocks/>
          </p:cNvCxnSpPr>
          <p:nvPr/>
        </p:nvCxnSpPr>
        <p:spPr>
          <a:xfrm>
            <a:off x="-8796" y="6377178"/>
            <a:ext cx="9699180" cy="0"/>
          </a:xfrm>
          <a:prstGeom prst="line">
            <a:avLst/>
          </a:prstGeom>
          <a:ln w="38100"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C8EB5B1-53D2-474B-AD23-9128FEC7CE34}"/>
              </a:ext>
            </a:extLst>
          </p:cNvPr>
          <p:cNvSpPr/>
          <p:nvPr/>
        </p:nvSpPr>
        <p:spPr>
          <a:xfrm>
            <a:off x="5335047" y="5583387"/>
            <a:ext cx="743055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i="1" dirty="0">
                <a:solidFill>
                  <a:srgbClr val="00B050"/>
                </a:solidFill>
              </a:rPr>
              <a:t>Схема проекта, скриншот в </a:t>
            </a:r>
            <a:r>
              <a:rPr lang="en-US" sz="1600" i="1" dirty="0" err="1">
                <a:solidFill>
                  <a:srgbClr val="00B050"/>
                </a:solidFill>
              </a:rPr>
              <a:t>trello</a:t>
            </a:r>
            <a:r>
              <a:rPr lang="ru-RU" sz="1600" i="1" dirty="0">
                <a:solidFill>
                  <a:srgbClr val="00B050"/>
                </a:solidFill>
              </a:rPr>
              <a:t>, небольшие пояснения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C868C917-3AC2-834E-94D2-A4834B0E329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8864" y="5215392"/>
            <a:ext cx="734253" cy="734253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44B5898-12DB-7541-8D67-6D5C0E5DB86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61"/>
          <a:stretch/>
        </p:blipFill>
        <p:spPr>
          <a:xfrm>
            <a:off x="876300" y="316673"/>
            <a:ext cx="3384389" cy="6022406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FBA1D42-768E-3147-81B3-7657D99DD99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0432" y="1051105"/>
            <a:ext cx="7099096" cy="386682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90E398ED-BF79-4D40-B5D5-979F6EF07747}"/>
              </a:ext>
            </a:extLst>
          </p:cNvPr>
          <p:cNvSpPr txBox="1"/>
          <p:nvPr/>
        </p:nvSpPr>
        <p:spPr>
          <a:xfrm>
            <a:off x="10071100" y="6524625"/>
            <a:ext cx="160496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smtClean="0">
                <a:solidFill>
                  <a:srgbClr val="383288"/>
                </a:solidFill>
              </a:rPr>
              <a:t>[</a:t>
            </a:r>
            <a:r>
              <a:rPr lang="ru-RU" sz="800" b="1" smtClean="0">
                <a:solidFill>
                  <a:srgbClr val="383288"/>
                </a:solidFill>
              </a:rPr>
              <a:t>Архитектура </a:t>
            </a:r>
            <a:r>
              <a:rPr lang="ru-RU" sz="800" b="1" dirty="0">
                <a:solidFill>
                  <a:srgbClr val="383288"/>
                </a:solidFill>
              </a:rPr>
              <a:t>проекта</a:t>
            </a:r>
            <a:r>
              <a:rPr lang="en-US" sz="800" b="1" dirty="0">
                <a:solidFill>
                  <a:srgbClr val="383288"/>
                </a:solidFill>
              </a:rPr>
              <a:t>]</a:t>
            </a:r>
            <a:endParaRPr lang="ru-RU" sz="800" b="1" dirty="0">
              <a:solidFill>
                <a:srgbClr val="383288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90C1297-00AC-414A-B811-4E763B3213C3}"/>
              </a:ext>
            </a:extLst>
          </p:cNvPr>
          <p:cNvSpPr txBox="1"/>
          <p:nvPr/>
        </p:nvSpPr>
        <p:spPr>
          <a:xfrm>
            <a:off x="340054" y="6512515"/>
            <a:ext cx="181259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solidFill>
                  <a:srgbClr val="383288"/>
                </a:solidFill>
              </a:rPr>
              <a:t>[</a:t>
            </a:r>
            <a:r>
              <a:rPr lang="ru-RU" sz="800" b="1" dirty="0">
                <a:solidFill>
                  <a:srgbClr val="383288"/>
                </a:solidFill>
              </a:rPr>
              <a:t>Краткое название</a:t>
            </a:r>
            <a:r>
              <a:rPr lang="en-US" sz="800" b="1" dirty="0">
                <a:solidFill>
                  <a:srgbClr val="383288"/>
                </a:solidFill>
              </a:rPr>
              <a:t>]</a:t>
            </a:r>
            <a:endParaRPr lang="ru-RU" sz="800" b="1" dirty="0">
              <a:solidFill>
                <a:srgbClr val="383288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6506F3E-4A74-A849-B5E9-84F3249CC2AA}"/>
              </a:ext>
            </a:extLst>
          </p:cNvPr>
          <p:cNvSpPr txBox="1"/>
          <p:nvPr/>
        </p:nvSpPr>
        <p:spPr>
          <a:xfrm>
            <a:off x="5401722" y="6512515"/>
            <a:ext cx="156000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800" b="1" dirty="0">
                <a:solidFill>
                  <a:srgbClr val="38D4D6"/>
                </a:solidFill>
              </a:rPr>
              <a:t>НАПРАВЛЕНИЕ НЕЙРО</a:t>
            </a:r>
          </a:p>
        </p:txBody>
      </p:sp>
    </p:spTree>
    <p:extLst>
      <p:ext uri="{BB962C8B-B14F-4D97-AF65-F5344CB8AC3E}">
        <p14:creationId xmlns:p14="http://schemas.microsoft.com/office/powerpoint/2010/main" val="16596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extBox 64">
            <a:extLst>
              <a:ext uri="{FF2B5EF4-FFF2-40B4-BE49-F238E27FC236}">
                <a16:creationId xmlns:a16="http://schemas.microsoft.com/office/drawing/2014/main" id="{67B0BB52-6BF2-5349-843D-9E752BF60BAE}"/>
              </a:ext>
            </a:extLst>
          </p:cNvPr>
          <p:cNvSpPr txBox="1"/>
          <p:nvPr/>
        </p:nvSpPr>
        <p:spPr>
          <a:xfrm>
            <a:off x="4773522" y="6080918"/>
            <a:ext cx="20429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1200" b="1" dirty="0">
                <a:solidFill>
                  <a:srgbClr val="383288"/>
                </a:solidFill>
              </a:rPr>
              <a:t>Выбор методов</a:t>
            </a:r>
          </a:p>
          <a:p>
            <a:pPr algn="r"/>
            <a:r>
              <a:rPr lang="ru-RU" sz="1200" i="1" dirty="0">
                <a:solidFill>
                  <a:srgbClr val="00B050"/>
                </a:solidFill>
              </a:rPr>
              <a:t>дата</a:t>
            </a:r>
          </a:p>
          <a:p>
            <a:pPr algn="ctr"/>
            <a:endParaRPr lang="ru-RU" sz="1200" dirty="0">
              <a:solidFill>
                <a:srgbClr val="FF0000"/>
              </a:solidFill>
            </a:endParaRPr>
          </a:p>
        </p:txBody>
      </p:sp>
      <p:graphicFrame>
        <p:nvGraphicFramePr>
          <p:cNvPr id="68" name="Таблица 67">
            <a:extLst>
              <a:ext uri="{FF2B5EF4-FFF2-40B4-BE49-F238E27FC236}">
                <a16:creationId xmlns:a16="http://schemas.microsoft.com/office/drawing/2014/main" id="{5DA6EA82-276A-CC43-9AE4-ED28F4E470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962336"/>
              </p:ext>
            </p:extLst>
          </p:nvPr>
        </p:nvGraphicFramePr>
        <p:xfrm>
          <a:off x="4071265" y="1181458"/>
          <a:ext cx="1491239" cy="640080"/>
        </p:xfrm>
        <a:graphic>
          <a:graphicData uri="http://schemas.openxmlformats.org/drawingml/2006/table">
            <a:tbl>
              <a:tblPr/>
              <a:tblGrid>
                <a:gridCol w="14912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освоение принципов разметки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9" name="Таблица 58">
            <a:extLst>
              <a:ext uri="{FF2B5EF4-FFF2-40B4-BE49-F238E27FC236}">
                <a16:creationId xmlns:a16="http://schemas.microsoft.com/office/drawing/2014/main" id="{933B4228-B047-C044-A348-AF1E60AC42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6353861"/>
              </p:ext>
            </p:extLst>
          </p:nvPr>
        </p:nvGraphicFramePr>
        <p:xfrm>
          <a:off x="2732644" y="1028217"/>
          <a:ext cx="925721" cy="640080"/>
        </p:xfrm>
        <a:graphic>
          <a:graphicData uri="http://schemas.openxmlformats.org/drawingml/2006/table">
            <a:tbl>
              <a:tblPr/>
              <a:tblGrid>
                <a:gridCol w="9257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освоение 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pandas, numpy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6" name="Таблица 135">
            <a:extLst>
              <a:ext uri="{FF2B5EF4-FFF2-40B4-BE49-F238E27FC236}">
                <a16:creationId xmlns:a16="http://schemas.microsoft.com/office/drawing/2014/main" id="{F5C7CF79-8B49-E94A-8C6F-F010AA0F3E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9798931"/>
              </p:ext>
            </p:extLst>
          </p:nvPr>
        </p:nvGraphicFramePr>
        <p:xfrm>
          <a:off x="2429125" y="1916689"/>
          <a:ext cx="925721" cy="640080"/>
        </p:xfrm>
        <a:graphic>
          <a:graphicData uri="http://schemas.openxmlformats.org/drawingml/2006/table">
            <a:tbl>
              <a:tblPr/>
              <a:tblGrid>
                <a:gridCol w="9257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освоение 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python notebook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8" name="Таблица 147">
            <a:extLst>
              <a:ext uri="{FF2B5EF4-FFF2-40B4-BE49-F238E27FC236}">
                <a16:creationId xmlns:a16="http://schemas.microsoft.com/office/drawing/2014/main" id="{196E79CA-AE20-D04F-A92E-067B487C8B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3710919"/>
              </p:ext>
            </p:extLst>
          </p:nvPr>
        </p:nvGraphicFramePr>
        <p:xfrm>
          <a:off x="8756718" y="1199036"/>
          <a:ext cx="1491239" cy="640080"/>
        </p:xfrm>
        <a:graphic>
          <a:graphicData uri="http://schemas.openxmlformats.org/drawingml/2006/table">
            <a:tbl>
              <a:tblPr/>
              <a:tblGrid>
                <a:gridCol w="14912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освоение библиотеки </a:t>
                      </a:r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latin typeface="+mn-lt"/>
                        </a:rPr>
                        <a:t>mathplotlib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5" name="Таблица 144">
            <a:extLst>
              <a:ext uri="{FF2B5EF4-FFF2-40B4-BE49-F238E27FC236}">
                <a16:creationId xmlns:a16="http://schemas.microsoft.com/office/drawing/2014/main" id="{34E7471F-8F90-9647-AFAB-A3538C76FA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0952336"/>
              </p:ext>
            </p:extLst>
          </p:nvPr>
        </p:nvGraphicFramePr>
        <p:xfrm>
          <a:off x="5275365" y="1169538"/>
          <a:ext cx="1491239" cy="640080"/>
        </p:xfrm>
        <a:graphic>
          <a:graphicData uri="http://schemas.openxmlformats.org/drawingml/2006/table">
            <a:tbl>
              <a:tblPr/>
              <a:tblGrid>
                <a:gridCol w="14912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работа с задачами классификации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9" name="Таблица 88">
            <a:extLst>
              <a:ext uri="{FF2B5EF4-FFF2-40B4-BE49-F238E27FC236}">
                <a16:creationId xmlns:a16="http://schemas.microsoft.com/office/drawing/2014/main" id="{A0E12F30-C9F2-E141-A9EF-5BBE290A42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5907652"/>
              </p:ext>
            </p:extLst>
          </p:nvPr>
        </p:nvGraphicFramePr>
        <p:xfrm>
          <a:off x="6802934" y="2703173"/>
          <a:ext cx="1240331" cy="1066800"/>
        </p:xfrm>
        <a:graphic>
          <a:graphicData uri="http://schemas.openxmlformats.org/drawingml/2006/table">
            <a:tbl>
              <a:tblPr/>
              <a:tblGrid>
                <a:gridCol w="12403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метод 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KNN, </a:t>
                      </a:r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решающих деревьев, опорных векторов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2" name="Прямоугольник 91">
            <a:extLst>
              <a:ext uri="{FF2B5EF4-FFF2-40B4-BE49-F238E27FC236}">
                <a16:creationId xmlns:a16="http://schemas.microsoft.com/office/drawing/2014/main" id="{FE0C2293-0A69-8440-9D4C-0CD7E2ACA01F}"/>
              </a:ext>
            </a:extLst>
          </p:cNvPr>
          <p:cNvSpPr/>
          <p:nvPr/>
        </p:nvSpPr>
        <p:spPr>
          <a:xfrm>
            <a:off x="5209580" y="4643398"/>
            <a:ext cx="1678493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"/>
            <a:r>
              <a:rPr lang="ru-RU" sz="1400" dirty="0" err="1">
                <a:solidFill>
                  <a:srgbClr val="000000"/>
                </a:solidFill>
              </a:rPr>
              <a:t>датасет</a:t>
            </a:r>
            <a:r>
              <a:rPr lang="ru-RU" sz="1400" dirty="0">
                <a:solidFill>
                  <a:srgbClr val="000000"/>
                </a:solidFill>
              </a:rPr>
              <a:t> «Мастер и Маргарита. Ключевые слова»</a:t>
            </a:r>
            <a:endParaRPr lang="en-US" sz="1400" dirty="0">
              <a:solidFill>
                <a:srgbClr val="00000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63702" y="280897"/>
            <a:ext cx="107750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383288"/>
                </a:solidFill>
              </a:rPr>
              <a:t>[</a:t>
            </a:r>
            <a:r>
              <a:rPr lang="ru-RU" sz="3600" b="1" dirty="0" err="1">
                <a:solidFill>
                  <a:srgbClr val="383288"/>
                </a:solidFill>
              </a:rPr>
              <a:t>Таймлайн</a:t>
            </a:r>
            <a:r>
              <a:rPr lang="en-US" sz="3600" b="1" dirty="0">
                <a:solidFill>
                  <a:srgbClr val="383288"/>
                </a:solidFill>
              </a:rPr>
              <a:t>]</a:t>
            </a:r>
            <a:endParaRPr lang="ru-RU" sz="3600" b="1" dirty="0">
              <a:solidFill>
                <a:srgbClr val="383288"/>
              </a:solidFill>
            </a:endParaRPr>
          </a:p>
        </p:txBody>
      </p:sp>
      <p:sp>
        <p:nvSpPr>
          <p:cNvPr id="14" name="Прямоугольный треугольник 13"/>
          <p:cNvSpPr/>
          <p:nvPr/>
        </p:nvSpPr>
        <p:spPr>
          <a:xfrm rot="13510417">
            <a:off x="-438329" y="180498"/>
            <a:ext cx="873898" cy="873898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ый треугольник 14"/>
          <p:cNvSpPr/>
          <p:nvPr/>
        </p:nvSpPr>
        <p:spPr>
          <a:xfrm rot="2713161">
            <a:off x="11946107" y="6134323"/>
            <a:ext cx="491786" cy="491786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70E563F-D4E6-864B-A745-D1FF51441E28}"/>
              </a:ext>
            </a:extLst>
          </p:cNvPr>
          <p:cNvSpPr txBox="1"/>
          <p:nvPr/>
        </p:nvSpPr>
        <p:spPr>
          <a:xfrm rot="5400000">
            <a:off x="1221004" y="4793896"/>
            <a:ext cx="430887" cy="1588906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r"/>
            <a:r>
              <a:rPr lang="ru-RU" sz="1600" b="1" dirty="0">
                <a:solidFill>
                  <a:srgbClr val="383288"/>
                </a:solidFill>
              </a:rPr>
              <a:t>Реализация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203B9FF-C8A5-3C48-8C49-6677F0126F98}"/>
              </a:ext>
            </a:extLst>
          </p:cNvPr>
          <p:cNvSpPr txBox="1"/>
          <p:nvPr/>
        </p:nvSpPr>
        <p:spPr>
          <a:xfrm rot="5400000">
            <a:off x="1557830" y="3514892"/>
            <a:ext cx="430887" cy="917892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r"/>
            <a:r>
              <a:rPr lang="ru-RU" sz="1600" b="1" dirty="0">
                <a:solidFill>
                  <a:srgbClr val="383288"/>
                </a:solidFill>
              </a:rPr>
              <a:t>Метод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3A6062E-BE9A-3C47-BD2D-A6EACECB7D0A}"/>
              </a:ext>
            </a:extLst>
          </p:cNvPr>
          <p:cNvSpPr txBox="1"/>
          <p:nvPr/>
        </p:nvSpPr>
        <p:spPr>
          <a:xfrm rot="5400000">
            <a:off x="1442661" y="1846222"/>
            <a:ext cx="430887" cy="1105012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r"/>
            <a:r>
              <a:rPr lang="ru-RU" sz="1600" b="1" dirty="0">
                <a:solidFill>
                  <a:srgbClr val="383288"/>
                </a:solidFill>
              </a:rPr>
              <a:t>Знание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BB092CB-C259-5044-9D34-8237DB16BE77}"/>
              </a:ext>
            </a:extLst>
          </p:cNvPr>
          <p:cNvSpPr txBox="1"/>
          <p:nvPr/>
        </p:nvSpPr>
        <p:spPr>
          <a:xfrm>
            <a:off x="2497377" y="6071966"/>
            <a:ext cx="13364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1200" b="1" dirty="0">
                <a:solidFill>
                  <a:srgbClr val="383288"/>
                </a:solidFill>
              </a:rPr>
              <a:t>Сбор данных</a:t>
            </a:r>
          </a:p>
          <a:p>
            <a:pPr algn="r"/>
            <a:r>
              <a:rPr lang="ru-RU" sz="1200" i="1" dirty="0">
                <a:solidFill>
                  <a:srgbClr val="00B050"/>
                </a:solidFill>
              </a:rPr>
              <a:t>дата</a:t>
            </a:r>
          </a:p>
        </p:txBody>
      </p:sp>
      <p:grpSp>
        <p:nvGrpSpPr>
          <p:cNvPr id="153" name="Группа 152">
            <a:extLst>
              <a:ext uri="{FF2B5EF4-FFF2-40B4-BE49-F238E27FC236}">
                <a16:creationId xmlns:a16="http://schemas.microsoft.com/office/drawing/2014/main" id="{B272F2A3-8A6F-A245-BFC3-B85695D89611}"/>
              </a:ext>
            </a:extLst>
          </p:cNvPr>
          <p:cNvGrpSpPr/>
          <p:nvPr/>
        </p:nvGrpSpPr>
        <p:grpSpPr>
          <a:xfrm>
            <a:off x="906018" y="1513379"/>
            <a:ext cx="10345608" cy="4445417"/>
            <a:chOff x="201168" y="1513379"/>
            <a:chExt cx="10345608" cy="4445417"/>
          </a:xfrm>
        </p:grpSpPr>
        <p:cxnSp>
          <p:nvCxnSpPr>
            <p:cNvPr id="17" name="Прямая соединительная линия 16">
              <a:extLst>
                <a:ext uri="{FF2B5EF4-FFF2-40B4-BE49-F238E27FC236}">
                  <a16:creationId xmlns:a16="http://schemas.microsoft.com/office/drawing/2014/main" id="{37E496FD-8DEB-D34D-944B-D033CB620DF4}"/>
                </a:ext>
              </a:extLst>
            </p:cNvPr>
            <p:cNvCxnSpPr/>
            <p:nvPr/>
          </p:nvCxnSpPr>
          <p:spPr>
            <a:xfrm>
              <a:off x="514228" y="4596787"/>
              <a:ext cx="9962250" cy="0"/>
            </a:xfrm>
            <a:prstGeom prst="line">
              <a:avLst/>
            </a:prstGeom>
            <a:ln>
              <a:solidFill>
                <a:srgbClr val="1EDDC3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Прямая соединительная линия 17">
              <a:extLst>
                <a:ext uri="{FF2B5EF4-FFF2-40B4-BE49-F238E27FC236}">
                  <a16:creationId xmlns:a16="http://schemas.microsoft.com/office/drawing/2014/main" id="{0BB8BADF-2C16-9A45-958C-4BBEB54AFA7D}"/>
                </a:ext>
              </a:extLst>
            </p:cNvPr>
            <p:cNvCxnSpPr/>
            <p:nvPr/>
          </p:nvCxnSpPr>
          <p:spPr>
            <a:xfrm>
              <a:off x="514228" y="2692008"/>
              <a:ext cx="10032548" cy="0"/>
            </a:xfrm>
            <a:prstGeom prst="line">
              <a:avLst/>
            </a:prstGeom>
            <a:ln>
              <a:solidFill>
                <a:srgbClr val="1EDDC3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Прямая со стрелкой 19">
              <a:extLst>
                <a:ext uri="{FF2B5EF4-FFF2-40B4-BE49-F238E27FC236}">
                  <a16:creationId xmlns:a16="http://schemas.microsoft.com/office/drawing/2014/main" id="{D3D49898-89F4-F847-B5F1-72B482A237FB}"/>
                </a:ext>
              </a:extLst>
            </p:cNvPr>
            <p:cNvCxnSpPr/>
            <p:nvPr/>
          </p:nvCxnSpPr>
          <p:spPr>
            <a:xfrm>
              <a:off x="201168" y="5958796"/>
              <a:ext cx="10345608" cy="0"/>
            </a:xfrm>
            <a:prstGeom prst="straightConnector1">
              <a:avLst/>
            </a:prstGeom>
            <a:ln w="57150" cap="rnd">
              <a:solidFill>
                <a:srgbClr val="1EDDC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Прямая соединительная линия 22">
              <a:extLst>
                <a:ext uri="{FF2B5EF4-FFF2-40B4-BE49-F238E27FC236}">
                  <a16:creationId xmlns:a16="http://schemas.microsoft.com/office/drawing/2014/main" id="{055E97B1-9E7A-3D49-AE36-BF060A5E6F76}"/>
                </a:ext>
              </a:extLst>
            </p:cNvPr>
            <p:cNvCxnSpPr/>
            <p:nvPr/>
          </p:nvCxnSpPr>
          <p:spPr>
            <a:xfrm>
              <a:off x="1424541" y="1513379"/>
              <a:ext cx="0" cy="681596"/>
            </a:xfrm>
            <a:prstGeom prst="line">
              <a:avLst/>
            </a:prstGeom>
            <a:ln w="57150">
              <a:solidFill>
                <a:srgbClr val="1EDDC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Прямая соединительная линия 23">
              <a:extLst>
                <a:ext uri="{FF2B5EF4-FFF2-40B4-BE49-F238E27FC236}">
                  <a16:creationId xmlns:a16="http://schemas.microsoft.com/office/drawing/2014/main" id="{E7BBF393-6645-1A4E-8456-89F570283FE8}"/>
                </a:ext>
              </a:extLst>
            </p:cNvPr>
            <p:cNvCxnSpPr/>
            <p:nvPr/>
          </p:nvCxnSpPr>
          <p:spPr>
            <a:xfrm>
              <a:off x="1424541" y="3374287"/>
              <a:ext cx="0" cy="458365"/>
            </a:xfrm>
            <a:prstGeom prst="line">
              <a:avLst/>
            </a:prstGeom>
            <a:ln w="57150">
              <a:solidFill>
                <a:srgbClr val="1EDDC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Прямая соединительная линия 94">
              <a:extLst>
                <a:ext uri="{FF2B5EF4-FFF2-40B4-BE49-F238E27FC236}">
                  <a16:creationId xmlns:a16="http://schemas.microsoft.com/office/drawing/2014/main" id="{D7ADCF93-577B-1A4C-B022-4640EAE27087}"/>
                </a:ext>
              </a:extLst>
            </p:cNvPr>
            <p:cNvCxnSpPr/>
            <p:nvPr/>
          </p:nvCxnSpPr>
          <p:spPr>
            <a:xfrm>
              <a:off x="1424541" y="5019044"/>
              <a:ext cx="0" cy="353278"/>
            </a:xfrm>
            <a:prstGeom prst="line">
              <a:avLst/>
            </a:prstGeom>
            <a:ln w="57150">
              <a:solidFill>
                <a:srgbClr val="1EDDC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5" name="Прямая со стрелкой 89">
            <a:extLst>
              <a:ext uri="{FF2B5EF4-FFF2-40B4-BE49-F238E27FC236}">
                <a16:creationId xmlns:a16="http://schemas.microsoft.com/office/drawing/2014/main" id="{669044B8-C419-B543-9609-E676646F0314}"/>
              </a:ext>
            </a:extLst>
          </p:cNvPr>
          <p:cNvCxnSpPr/>
          <p:nvPr/>
        </p:nvCxnSpPr>
        <p:spPr>
          <a:xfrm>
            <a:off x="5271257" y="3459270"/>
            <a:ext cx="1134000" cy="0"/>
          </a:xfrm>
          <a:prstGeom prst="straightConnector1">
            <a:avLst/>
          </a:prstGeom>
          <a:ln w="28575" cap="rnd">
            <a:solidFill>
              <a:schemeClr val="accent2"/>
            </a:solidFill>
            <a:headEnd type="oval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 стрелкой 89">
            <a:extLst>
              <a:ext uri="{FF2B5EF4-FFF2-40B4-BE49-F238E27FC236}">
                <a16:creationId xmlns:a16="http://schemas.microsoft.com/office/drawing/2014/main" id="{99E810B5-8999-F242-A77A-9243CB87EB85}"/>
              </a:ext>
            </a:extLst>
          </p:cNvPr>
          <p:cNvCxnSpPr/>
          <p:nvPr/>
        </p:nvCxnSpPr>
        <p:spPr>
          <a:xfrm>
            <a:off x="2401351" y="2575825"/>
            <a:ext cx="1274545" cy="1588"/>
          </a:xfrm>
          <a:prstGeom prst="straightConnector1">
            <a:avLst/>
          </a:prstGeom>
          <a:ln w="28575" cap="rnd">
            <a:solidFill>
              <a:schemeClr val="accent2"/>
            </a:solidFill>
            <a:headEnd type="oval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DEB51DCE-55CF-A44D-A947-3026D30CD0BB}"/>
              </a:ext>
            </a:extLst>
          </p:cNvPr>
          <p:cNvSpPr txBox="1"/>
          <p:nvPr/>
        </p:nvSpPr>
        <p:spPr>
          <a:xfrm>
            <a:off x="6082031" y="6068156"/>
            <a:ext cx="26156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1200" b="1" dirty="0">
                <a:solidFill>
                  <a:srgbClr val="383288"/>
                </a:solidFill>
              </a:rPr>
              <a:t>Результаты</a:t>
            </a:r>
          </a:p>
          <a:p>
            <a:pPr algn="r"/>
            <a:r>
              <a:rPr lang="ru-RU" sz="1200" i="1" dirty="0">
                <a:solidFill>
                  <a:srgbClr val="00B050"/>
                </a:solidFill>
              </a:rPr>
              <a:t>дата</a:t>
            </a:r>
          </a:p>
          <a:p>
            <a:pPr algn="ctr"/>
            <a:endParaRPr lang="ru-RU" sz="1200" dirty="0">
              <a:solidFill>
                <a:srgbClr val="FF0000"/>
              </a:solidFill>
            </a:endParaRPr>
          </a:p>
        </p:txBody>
      </p:sp>
      <p:cxnSp>
        <p:nvCxnSpPr>
          <p:cNvPr id="48" name="Прямая со стрелкой 89">
            <a:extLst>
              <a:ext uri="{FF2B5EF4-FFF2-40B4-BE49-F238E27FC236}">
                <a16:creationId xmlns:a16="http://schemas.microsoft.com/office/drawing/2014/main" id="{4170B23A-D02D-6F42-ADCE-CD4BAAF2369D}"/>
              </a:ext>
            </a:extLst>
          </p:cNvPr>
          <p:cNvCxnSpPr/>
          <p:nvPr/>
        </p:nvCxnSpPr>
        <p:spPr>
          <a:xfrm flipV="1">
            <a:off x="3922959" y="4484632"/>
            <a:ext cx="1217641" cy="1"/>
          </a:xfrm>
          <a:prstGeom prst="straightConnector1">
            <a:avLst/>
          </a:prstGeom>
          <a:ln w="28575" cap="rnd">
            <a:solidFill>
              <a:schemeClr val="accent2"/>
            </a:solidFill>
            <a:headEnd type="oval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9AE2FB43-8432-E14B-A7B8-8203E6FD3228}"/>
              </a:ext>
            </a:extLst>
          </p:cNvPr>
          <p:cNvSpPr txBox="1"/>
          <p:nvPr/>
        </p:nvSpPr>
        <p:spPr>
          <a:xfrm>
            <a:off x="3342466" y="6067645"/>
            <a:ext cx="19153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1200" b="1" dirty="0">
                <a:solidFill>
                  <a:srgbClr val="383288"/>
                </a:solidFill>
              </a:rPr>
              <a:t>Выбор модели</a:t>
            </a:r>
          </a:p>
          <a:p>
            <a:pPr algn="r"/>
            <a:r>
              <a:rPr lang="ru-RU" sz="1200" i="1" dirty="0">
                <a:solidFill>
                  <a:srgbClr val="00B050"/>
                </a:solidFill>
              </a:rPr>
              <a:t>дата</a:t>
            </a:r>
          </a:p>
          <a:p>
            <a:pPr algn="ctr"/>
            <a:endParaRPr lang="ru-RU" sz="1200" dirty="0">
              <a:solidFill>
                <a:srgbClr val="FF0000"/>
              </a:solidFill>
            </a:endParaRPr>
          </a:p>
        </p:txBody>
      </p:sp>
      <p:cxnSp>
        <p:nvCxnSpPr>
          <p:cNvPr id="58" name="Прямая со стрелкой 89">
            <a:extLst>
              <a:ext uri="{FF2B5EF4-FFF2-40B4-BE49-F238E27FC236}">
                <a16:creationId xmlns:a16="http://schemas.microsoft.com/office/drawing/2014/main" id="{E753387B-EB6F-0C49-AA1C-755A7023AD4F}"/>
              </a:ext>
            </a:extLst>
          </p:cNvPr>
          <p:cNvCxnSpPr/>
          <p:nvPr/>
        </p:nvCxnSpPr>
        <p:spPr>
          <a:xfrm flipV="1">
            <a:off x="2753045" y="1683098"/>
            <a:ext cx="964783" cy="336"/>
          </a:xfrm>
          <a:prstGeom prst="straightConnector1">
            <a:avLst/>
          </a:prstGeom>
          <a:ln w="28575" cap="rnd">
            <a:solidFill>
              <a:schemeClr val="accent2"/>
            </a:solidFill>
            <a:headEnd type="oval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Прямая со стрелкой 65">
            <a:extLst>
              <a:ext uri="{FF2B5EF4-FFF2-40B4-BE49-F238E27FC236}">
                <a16:creationId xmlns:a16="http://schemas.microsoft.com/office/drawing/2014/main" id="{36C5D21F-8228-BF4C-BB53-31B46CB64619}"/>
              </a:ext>
            </a:extLst>
          </p:cNvPr>
          <p:cNvCxnSpPr>
            <a:cxnSpLocks/>
          </p:cNvCxnSpPr>
          <p:nvPr/>
        </p:nvCxnSpPr>
        <p:spPr>
          <a:xfrm flipV="1">
            <a:off x="4090594" y="1871708"/>
            <a:ext cx="1053836" cy="7906"/>
          </a:xfrm>
          <a:prstGeom prst="straightConnector1">
            <a:avLst/>
          </a:prstGeom>
          <a:ln w="28575" cap="rnd">
            <a:solidFill>
              <a:schemeClr val="accent2"/>
            </a:solidFill>
            <a:headEnd type="oval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Прямая со стрелкой 89">
            <a:extLst>
              <a:ext uri="{FF2B5EF4-FFF2-40B4-BE49-F238E27FC236}">
                <a16:creationId xmlns:a16="http://schemas.microsoft.com/office/drawing/2014/main" id="{B713DF8E-757E-C649-8194-DC4B62A70A97}"/>
              </a:ext>
            </a:extLst>
          </p:cNvPr>
          <p:cNvCxnSpPr/>
          <p:nvPr/>
        </p:nvCxnSpPr>
        <p:spPr>
          <a:xfrm flipV="1">
            <a:off x="8787355" y="1886534"/>
            <a:ext cx="1086386" cy="330"/>
          </a:xfrm>
          <a:prstGeom prst="straightConnector1">
            <a:avLst/>
          </a:prstGeom>
          <a:ln w="28575" cap="rnd">
            <a:solidFill>
              <a:schemeClr val="accent2"/>
            </a:solidFill>
            <a:headEnd type="oval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Прямая со стрелкой 89">
            <a:extLst>
              <a:ext uri="{FF2B5EF4-FFF2-40B4-BE49-F238E27FC236}">
                <a16:creationId xmlns:a16="http://schemas.microsoft.com/office/drawing/2014/main" id="{A83F6607-1E03-3B44-912F-3CC857123098}"/>
              </a:ext>
            </a:extLst>
          </p:cNvPr>
          <p:cNvCxnSpPr/>
          <p:nvPr/>
        </p:nvCxnSpPr>
        <p:spPr>
          <a:xfrm>
            <a:off x="3936782" y="3371142"/>
            <a:ext cx="937861" cy="0"/>
          </a:xfrm>
          <a:prstGeom prst="straightConnector1">
            <a:avLst/>
          </a:prstGeom>
          <a:ln w="28575" cap="rnd">
            <a:solidFill>
              <a:schemeClr val="accent2"/>
            </a:solidFill>
            <a:headEnd type="oval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Прямая со стрелкой 89">
            <a:extLst>
              <a:ext uri="{FF2B5EF4-FFF2-40B4-BE49-F238E27FC236}">
                <a16:creationId xmlns:a16="http://schemas.microsoft.com/office/drawing/2014/main" id="{8FA31BAE-B815-D04A-B0BA-3B6148FED517}"/>
              </a:ext>
            </a:extLst>
          </p:cNvPr>
          <p:cNvCxnSpPr/>
          <p:nvPr/>
        </p:nvCxnSpPr>
        <p:spPr>
          <a:xfrm>
            <a:off x="3932026" y="5594131"/>
            <a:ext cx="1175870" cy="0"/>
          </a:xfrm>
          <a:prstGeom prst="straightConnector1">
            <a:avLst/>
          </a:prstGeom>
          <a:ln w="28575" cap="rnd">
            <a:solidFill>
              <a:schemeClr val="accent2"/>
            </a:solidFill>
            <a:headEnd type="oval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Прямоугольник 72">
            <a:extLst>
              <a:ext uri="{FF2B5EF4-FFF2-40B4-BE49-F238E27FC236}">
                <a16:creationId xmlns:a16="http://schemas.microsoft.com/office/drawing/2014/main" id="{0587DF12-2550-0B4B-98BC-16B91CD88FF5}"/>
              </a:ext>
            </a:extLst>
          </p:cNvPr>
          <p:cNvSpPr/>
          <p:nvPr/>
        </p:nvSpPr>
        <p:spPr>
          <a:xfrm>
            <a:off x="3810065" y="4673372"/>
            <a:ext cx="153835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"/>
            <a:r>
              <a:rPr lang="ru-RU" sz="1400" dirty="0" err="1">
                <a:solidFill>
                  <a:srgbClr val="000000"/>
                </a:solidFill>
              </a:rPr>
              <a:t>датасет</a:t>
            </a:r>
            <a:r>
              <a:rPr lang="ru-RU" sz="1400" dirty="0">
                <a:solidFill>
                  <a:srgbClr val="000000"/>
                </a:solidFill>
              </a:rPr>
              <a:t> «Мастер и Маргарита. Эмоции»</a:t>
            </a:r>
            <a:endParaRPr lang="en-US" sz="1400" dirty="0">
              <a:solidFill>
                <a:srgbClr val="000000"/>
              </a:solidFill>
            </a:endParaRPr>
          </a:p>
        </p:txBody>
      </p:sp>
      <p:graphicFrame>
        <p:nvGraphicFramePr>
          <p:cNvPr id="75" name="Таблица 74">
            <a:extLst>
              <a:ext uri="{FF2B5EF4-FFF2-40B4-BE49-F238E27FC236}">
                <a16:creationId xmlns:a16="http://schemas.microsoft.com/office/drawing/2014/main" id="{1311EDA6-37B2-4947-9E8A-B904B7D8A7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7976252"/>
              </p:ext>
            </p:extLst>
          </p:nvPr>
        </p:nvGraphicFramePr>
        <p:xfrm>
          <a:off x="3966424" y="3573850"/>
          <a:ext cx="1124785" cy="853440"/>
        </p:xfrm>
        <a:graphic>
          <a:graphicData uri="http://schemas.openxmlformats.org/drawingml/2006/table">
            <a:tbl>
              <a:tblPr/>
              <a:tblGrid>
                <a:gridCol w="11247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разработка методики сбора данных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76" name="Прямая со стрелкой 75">
            <a:extLst>
              <a:ext uri="{FF2B5EF4-FFF2-40B4-BE49-F238E27FC236}">
                <a16:creationId xmlns:a16="http://schemas.microsoft.com/office/drawing/2014/main" id="{A6A4282E-BBEF-434A-BFDD-F7456C949DC5}"/>
              </a:ext>
            </a:extLst>
          </p:cNvPr>
          <p:cNvCxnSpPr/>
          <p:nvPr/>
        </p:nvCxnSpPr>
        <p:spPr>
          <a:xfrm>
            <a:off x="6895037" y="1861306"/>
            <a:ext cx="1651461" cy="1588"/>
          </a:xfrm>
          <a:prstGeom prst="straightConnector1">
            <a:avLst/>
          </a:prstGeom>
          <a:ln w="28575" cap="rnd">
            <a:solidFill>
              <a:schemeClr val="accent2"/>
            </a:solidFill>
            <a:headEnd type="oval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Прямая со стрелкой 89">
            <a:extLst>
              <a:ext uri="{FF2B5EF4-FFF2-40B4-BE49-F238E27FC236}">
                <a16:creationId xmlns:a16="http://schemas.microsoft.com/office/drawing/2014/main" id="{E575058D-1EFE-7E49-940D-A12B24E851F8}"/>
              </a:ext>
            </a:extLst>
          </p:cNvPr>
          <p:cNvCxnSpPr/>
          <p:nvPr/>
        </p:nvCxnSpPr>
        <p:spPr>
          <a:xfrm>
            <a:off x="7232349" y="4495184"/>
            <a:ext cx="1311787" cy="0"/>
          </a:xfrm>
          <a:prstGeom prst="straightConnector1">
            <a:avLst/>
          </a:prstGeom>
          <a:ln w="28575" cap="rnd">
            <a:solidFill>
              <a:schemeClr val="accent2"/>
            </a:solidFill>
            <a:headEnd type="oval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Прямая со стрелкой 89">
            <a:extLst>
              <a:ext uri="{FF2B5EF4-FFF2-40B4-BE49-F238E27FC236}">
                <a16:creationId xmlns:a16="http://schemas.microsoft.com/office/drawing/2014/main" id="{F2BD711C-90E4-9C45-A391-CCD68B2B2A95}"/>
              </a:ext>
            </a:extLst>
          </p:cNvPr>
          <p:cNvCxnSpPr/>
          <p:nvPr/>
        </p:nvCxnSpPr>
        <p:spPr>
          <a:xfrm>
            <a:off x="5339731" y="5753148"/>
            <a:ext cx="1149355" cy="2309"/>
          </a:xfrm>
          <a:prstGeom prst="straightConnector1">
            <a:avLst/>
          </a:prstGeom>
          <a:ln w="28575" cap="rnd">
            <a:solidFill>
              <a:schemeClr val="accent2"/>
            </a:solidFill>
            <a:headEnd type="oval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Прямая со стрелкой 89">
            <a:extLst>
              <a:ext uri="{FF2B5EF4-FFF2-40B4-BE49-F238E27FC236}">
                <a16:creationId xmlns:a16="http://schemas.microsoft.com/office/drawing/2014/main" id="{4154A426-4AC1-744C-8E15-7D7DC1AB42CD}"/>
              </a:ext>
            </a:extLst>
          </p:cNvPr>
          <p:cNvCxnSpPr>
            <a:cxnSpLocks/>
          </p:cNvCxnSpPr>
          <p:nvPr/>
        </p:nvCxnSpPr>
        <p:spPr>
          <a:xfrm>
            <a:off x="6833326" y="5317863"/>
            <a:ext cx="1411795" cy="0"/>
          </a:xfrm>
          <a:prstGeom prst="straightConnector1">
            <a:avLst/>
          </a:prstGeom>
          <a:ln w="28575" cap="rnd">
            <a:solidFill>
              <a:schemeClr val="accent2"/>
            </a:solidFill>
            <a:headEnd type="oval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Прямоугольник 102">
            <a:extLst>
              <a:ext uri="{FF2B5EF4-FFF2-40B4-BE49-F238E27FC236}">
                <a16:creationId xmlns:a16="http://schemas.microsoft.com/office/drawing/2014/main" id="{0A0364DC-A63F-114A-9B3E-891852E12CDB}"/>
              </a:ext>
            </a:extLst>
          </p:cNvPr>
          <p:cNvSpPr/>
          <p:nvPr/>
        </p:nvSpPr>
        <p:spPr>
          <a:xfrm>
            <a:off x="6718415" y="4586243"/>
            <a:ext cx="1678493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"/>
            <a:r>
              <a:rPr lang="ru-RU" sz="1400" dirty="0">
                <a:solidFill>
                  <a:srgbClr val="000000"/>
                </a:solidFill>
              </a:rPr>
              <a:t>реализация метода </a:t>
            </a:r>
            <a:r>
              <a:rPr lang="en-US" sz="1400" dirty="0">
                <a:solidFill>
                  <a:srgbClr val="000000"/>
                </a:solidFill>
              </a:rPr>
              <a:t>KNN</a:t>
            </a:r>
            <a:r>
              <a:rPr lang="ru-RU" sz="1400" dirty="0">
                <a:solidFill>
                  <a:srgbClr val="000000"/>
                </a:solidFill>
              </a:rPr>
              <a:t>+</a:t>
            </a:r>
            <a:r>
              <a:rPr lang="ru-RU" sz="1400" dirty="0" err="1">
                <a:solidFill>
                  <a:srgbClr val="000000"/>
                </a:solidFill>
              </a:rPr>
              <a:t>бустинг</a:t>
            </a:r>
            <a:endParaRPr lang="en-US" sz="1400" dirty="0">
              <a:solidFill>
                <a:srgbClr val="000000"/>
              </a:solidFill>
            </a:endParaRPr>
          </a:p>
        </p:txBody>
      </p:sp>
      <p:graphicFrame>
        <p:nvGraphicFramePr>
          <p:cNvPr id="107" name="Таблица 106">
            <a:extLst>
              <a:ext uri="{FF2B5EF4-FFF2-40B4-BE49-F238E27FC236}">
                <a16:creationId xmlns:a16="http://schemas.microsoft.com/office/drawing/2014/main" id="{7DF85AF0-7506-A649-A6A8-2EE6EF1197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3263151"/>
              </p:ext>
            </p:extLst>
          </p:nvPr>
        </p:nvGraphicFramePr>
        <p:xfrm>
          <a:off x="8747837" y="3643877"/>
          <a:ext cx="1617656" cy="426720"/>
        </p:xfrm>
        <a:graphic>
          <a:graphicData uri="http://schemas.openxmlformats.org/drawingml/2006/table">
            <a:tbl>
              <a:tblPr/>
              <a:tblGrid>
                <a:gridCol w="16176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перекрестная </a:t>
                      </a:r>
                      <a:r>
                        <a:rPr lang="ru-RU" sz="1400" b="0" i="0" u="none" strike="noStrike" dirty="0" err="1">
                          <a:solidFill>
                            <a:srgbClr val="000000"/>
                          </a:solidFill>
                          <a:latin typeface="+mn-lt"/>
                        </a:rPr>
                        <a:t>валидация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08" name="Прямая со стрелкой 89">
            <a:extLst>
              <a:ext uri="{FF2B5EF4-FFF2-40B4-BE49-F238E27FC236}">
                <a16:creationId xmlns:a16="http://schemas.microsoft.com/office/drawing/2014/main" id="{645A0718-A413-2246-AD80-CF5F450A9FCA}"/>
              </a:ext>
            </a:extLst>
          </p:cNvPr>
          <p:cNvCxnSpPr/>
          <p:nvPr/>
        </p:nvCxnSpPr>
        <p:spPr>
          <a:xfrm>
            <a:off x="8768276" y="4109563"/>
            <a:ext cx="1658177" cy="1588"/>
          </a:xfrm>
          <a:prstGeom prst="straightConnector1">
            <a:avLst/>
          </a:prstGeom>
          <a:ln w="28575" cap="rnd">
            <a:solidFill>
              <a:schemeClr val="accent2"/>
            </a:solidFill>
            <a:headEnd type="oval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Прямая со стрелкой 89">
            <a:extLst>
              <a:ext uri="{FF2B5EF4-FFF2-40B4-BE49-F238E27FC236}">
                <a16:creationId xmlns:a16="http://schemas.microsoft.com/office/drawing/2014/main" id="{7C2D5493-7815-8742-9FDC-15641F49911F}"/>
              </a:ext>
            </a:extLst>
          </p:cNvPr>
          <p:cNvCxnSpPr/>
          <p:nvPr/>
        </p:nvCxnSpPr>
        <p:spPr>
          <a:xfrm>
            <a:off x="8716201" y="5534577"/>
            <a:ext cx="1334044" cy="18333"/>
          </a:xfrm>
          <a:prstGeom prst="straightConnector1">
            <a:avLst/>
          </a:prstGeom>
          <a:ln w="28575" cap="rnd">
            <a:solidFill>
              <a:schemeClr val="accent2"/>
            </a:solidFill>
            <a:headEnd type="oval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Прямоугольник 109">
            <a:extLst>
              <a:ext uri="{FF2B5EF4-FFF2-40B4-BE49-F238E27FC236}">
                <a16:creationId xmlns:a16="http://schemas.microsoft.com/office/drawing/2014/main" id="{B50E3B70-21AE-594F-83C6-64964B59F5C3}"/>
              </a:ext>
            </a:extLst>
          </p:cNvPr>
          <p:cNvSpPr/>
          <p:nvPr/>
        </p:nvSpPr>
        <p:spPr>
          <a:xfrm>
            <a:off x="8601290" y="4640623"/>
            <a:ext cx="1678493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"/>
            <a:r>
              <a:rPr lang="ru-RU" sz="1400" dirty="0">
                <a:solidFill>
                  <a:srgbClr val="000000"/>
                </a:solidFill>
              </a:rPr>
              <a:t>визуализация карты «Мастер и Маргарита. Москва»</a:t>
            </a:r>
            <a:endParaRPr lang="en-US" sz="1400" dirty="0">
              <a:solidFill>
                <a:srgbClr val="000000"/>
              </a:solidFill>
            </a:endParaRPr>
          </a:p>
        </p:txBody>
      </p:sp>
      <p:cxnSp>
        <p:nvCxnSpPr>
          <p:cNvPr id="112" name="Прямая со стрелкой 89">
            <a:extLst>
              <a:ext uri="{FF2B5EF4-FFF2-40B4-BE49-F238E27FC236}">
                <a16:creationId xmlns:a16="http://schemas.microsoft.com/office/drawing/2014/main" id="{695AF590-7289-954E-8FF1-8779041C3B9F}"/>
              </a:ext>
            </a:extLst>
          </p:cNvPr>
          <p:cNvCxnSpPr/>
          <p:nvPr/>
        </p:nvCxnSpPr>
        <p:spPr>
          <a:xfrm>
            <a:off x="8768276" y="3428292"/>
            <a:ext cx="1658177" cy="1588"/>
          </a:xfrm>
          <a:prstGeom prst="straightConnector1">
            <a:avLst/>
          </a:prstGeom>
          <a:ln w="28575" cap="rnd">
            <a:solidFill>
              <a:schemeClr val="accent2"/>
            </a:solidFill>
            <a:headEnd type="oval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Прямая со стрелкой 114">
            <a:extLst>
              <a:ext uri="{FF2B5EF4-FFF2-40B4-BE49-F238E27FC236}">
                <a16:creationId xmlns:a16="http://schemas.microsoft.com/office/drawing/2014/main" id="{FC6C2B4F-4586-BF46-A77E-6F52CF0AFA35}"/>
              </a:ext>
            </a:extLst>
          </p:cNvPr>
          <p:cNvCxnSpPr>
            <a:cxnSpLocks/>
          </p:cNvCxnSpPr>
          <p:nvPr/>
        </p:nvCxnSpPr>
        <p:spPr>
          <a:xfrm flipV="1">
            <a:off x="5312570" y="1871519"/>
            <a:ext cx="1405845" cy="4165"/>
          </a:xfrm>
          <a:prstGeom prst="straightConnector1">
            <a:avLst/>
          </a:prstGeom>
          <a:ln w="28575" cap="rnd">
            <a:solidFill>
              <a:schemeClr val="accent2"/>
            </a:solidFill>
            <a:headEnd type="oval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TextBox 124">
            <a:extLst>
              <a:ext uri="{FF2B5EF4-FFF2-40B4-BE49-F238E27FC236}">
                <a16:creationId xmlns:a16="http://schemas.microsoft.com/office/drawing/2014/main" id="{1B57C53D-EF98-4840-B0A5-9A66E5C25999}"/>
              </a:ext>
            </a:extLst>
          </p:cNvPr>
          <p:cNvSpPr txBox="1"/>
          <p:nvPr/>
        </p:nvSpPr>
        <p:spPr>
          <a:xfrm>
            <a:off x="8863612" y="6067645"/>
            <a:ext cx="17085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1200" b="1" dirty="0">
                <a:solidFill>
                  <a:srgbClr val="383288"/>
                </a:solidFill>
              </a:rPr>
              <a:t>Защита проекта</a:t>
            </a:r>
          </a:p>
          <a:p>
            <a:pPr algn="r"/>
            <a:r>
              <a:rPr lang="ru-RU" sz="1200" i="1" dirty="0">
                <a:solidFill>
                  <a:srgbClr val="00B050"/>
                </a:solidFill>
              </a:rPr>
              <a:t>дата</a:t>
            </a:r>
          </a:p>
          <a:p>
            <a:pPr algn="ctr"/>
            <a:endParaRPr lang="ru-RU" sz="1200" dirty="0">
              <a:solidFill>
                <a:srgbClr val="FF0000"/>
              </a:solidFill>
            </a:endParaRPr>
          </a:p>
        </p:txBody>
      </p:sp>
      <p:graphicFrame>
        <p:nvGraphicFramePr>
          <p:cNvPr id="126" name="Таблица 125">
            <a:extLst>
              <a:ext uri="{FF2B5EF4-FFF2-40B4-BE49-F238E27FC236}">
                <a16:creationId xmlns:a16="http://schemas.microsoft.com/office/drawing/2014/main" id="{79A7CA7B-5B8B-A24D-9F6A-45B81AAB78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7916212"/>
              </p:ext>
            </p:extLst>
          </p:nvPr>
        </p:nvGraphicFramePr>
        <p:xfrm>
          <a:off x="3867383" y="1924387"/>
          <a:ext cx="1160089" cy="640080"/>
        </p:xfrm>
        <a:graphic>
          <a:graphicData uri="http://schemas.openxmlformats.org/drawingml/2006/table">
            <a:tbl>
              <a:tblPr/>
              <a:tblGrid>
                <a:gridCol w="11600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изучение модели эмоций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27" name="Прямая со стрелкой 89">
            <a:extLst>
              <a:ext uri="{FF2B5EF4-FFF2-40B4-BE49-F238E27FC236}">
                <a16:creationId xmlns:a16="http://schemas.microsoft.com/office/drawing/2014/main" id="{03FCD9AB-C1F4-A944-935A-47FC3AB60BFF}"/>
              </a:ext>
            </a:extLst>
          </p:cNvPr>
          <p:cNvCxnSpPr>
            <a:cxnSpLocks/>
          </p:cNvCxnSpPr>
          <p:nvPr/>
        </p:nvCxnSpPr>
        <p:spPr>
          <a:xfrm>
            <a:off x="3882873" y="2598781"/>
            <a:ext cx="852559" cy="0"/>
          </a:xfrm>
          <a:prstGeom prst="straightConnector1">
            <a:avLst/>
          </a:prstGeom>
          <a:ln w="28575" cap="rnd">
            <a:solidFill>
              <a:schemeClr val="accent2"/>
            </a:solidFill>
            <a:headEnd type="oval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Group 5">
            <a:extLst>
              <a:ext uri="{FF2B5EF4-FFF2-40B4-BE49-F238E27FC236}">
                <a16:creationId xmlns:a16="http://schemas.microsoft.com/office/drawing/2014/main" id="{6450806F-7DA2-EA4B-B571-FD4CFE019D2C}"/>
              </a:ext>
            </a:extLst>
          </p:cNvPr>
          <p:cNvGrpSpPr/>
          <p:nvPr/>
        </p:nvGrpSpPr>
        <p:grpSpPr>
          <a:xfrm>
            <a:off x="3297378" y="1056164"/>
            <a:ext cx="905030" cy="5316693"/>
            <a:chOff x="-2443535" y="1100186"/>
            <a:chExt cx="905030" cy="5827163"/>
          </a:xfrm>
        </p:grpSpPr>
        <p:sp>
          <p:nvSpPr>
            <p:cNvPr id="28" name="Прямоугольник 27">
              <a:extLst>
                <a:ext uri="{FF2B5EF4-FFF2-40B4-BE49-F238E27FC236}">
                  <a16:creationId xmlns:a16="http://schemas.microsoft.com/office/drawing/2014/main" id="{BE98A7FB-07AB-DE45-B3BA-C15AEF310302}"/>
                </a:ext>
              </a:extLst>
            </p:cNvPr>
            <p:cNvSpPr/>
            <p:nvPr/>
          </p:nvSpPr>
          <p:spPr>
            <a:xfrm flipH="1">
              <a:off x="-2034537" y="1100186"/>
              <a:ext cx="87032" cy="87032"/>
            </a:xfrm>
            <a:prstGeom prst="rect">
              <a:avLst/>
            </a:prstGeom>
            <a:noFill/>
            <a:ln w="3175">
              <a:solidFill>
                <a:srgbClr val="1EDDC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9" name="Овал 61">
              <a:extLst>
                <a:ext uri="{FF2B5EF4-FFF2-40B4-BE49-F238E27FC236}">
                  <a16:creationId xmlns:a16="http://schemas.microsoft.com/office/drawing/2014/main" id="{3A2BE4EE-2AA6-F74F-AF40-CDDD07D2D01D}"/>
                </a:ext>
              </a:extLst>
            </p:cNvPr>
            <p:cNvSpPr/>
            <p:nvPr/>
          </p:nvSpPr>
          <p:spPr>
            <a:xfrm>
              <a:off x="-2103242" y="6358472"/>
              <a:ext cx="224443" cy="232757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1EDDC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0" name="Овал 62">
              <a:extLst>
                <a:ext uri="{FF2B5EF4-FFF2-40B4-BE49-F238E27FC236}">
                  <a16:creationId xmlns:a16="http://schemas.microsoft.com/office/drawing/2014/main" id="{9D1F849A-E3BE-4448-AD18-2ADD0B30DDBD}"/>
                </a:ext>
              </a:extLst>
            </p:cNvPr>
            <p:cNvSpPr/>
            <p:nvPr/>
          </p:nvSpPr>
          <p:spPr>
            <a:xfrm>
              <a:off x="-2158388" y="6307479"/>
              <a:ext cx="334736" cy="334734"/>
            </a:xfrm>
            <a:prstGeom prst="ellipse">
              <a:avLst/>
            </a:prstGeom>
            <a:noFill/>
            <a:ln w="3175">
              <a:solidFill>
                <a:srgbClr val="1EDDC3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cxnSp>
          <p:nvCxnSpPr>
            <p:cNvPr id="31" name="Прямая соединительная линия 63">
              <a:extLst>
                <a:ext uri="{FF2B5EF4-FFF2-40B4-BE49-F238E27FC236}">
                  <a16:creationId xmlns:a16="http://schemas.microsoft.com/office/drawing/2014/main" id="{02998F3F-3D3B-8748-A173-31DBA133744C}"/>
                </a:ext>
              </a:extLst>
            </p:cNvPr>
            <p:cNvCxnSpPr/>
            <p:nvPr/>
          </p:nvCxnSpPr>
          <p:spPr>
            <a:xfrm rot="16200000" flipV="1">
              <a:off x="-1991020" y="6022331"/>
              <a:ext cx="0" cy="905030"/>
            </a:xfrm>
            <a:prstGeom prst="line">
              <a:avLst/>
            </a:prstGeom>
            <a:noFill/>
            <a:ln w="3175">
              <a:solidFill>
                <a:srgbClr val="1EDDC3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2" name="Прямая соединительная линия 73">
              <a:extLst>
                <a:ext uri="{FF2B5EF4-FFF2-40B4-BE49-F238E27FC236}">
                  <a16:creationId xmlns:a16="http://schemas.microsoft.com/office/drawing/2014/main" id="{CBEA78DE-3F7D-BF4F-86AB-F38E3948E056}"/>
                </a:ext>
              </a:extLst>
            </p:cNvPr>
            <p:cNvCxnSpPr/>
            <p:nvPr/>
          </p:nvCxnSpPr>
          <p:spPr>
            <a:xfrm flipV="1">
              <a:off x="-1991020" y="1179042"/>
              <a:ext cx="0" cy="5748307"/>
            </a:xfrm>
            <a:prstGeom prst="line">
              <a:avLst/>
            </a:prstGeom>
            <a:noFill/>
            <a:ln w="3175">
              <a:solidFill>
                <a:srgbClr val="1EDDC3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40" name="Group 98">
            <a:extLst>
              <a:ext uri="{FF2B5EF4-FFF2-40B4-BE49-F238E27FC236}">
                <a16:creationId xmlns:a16="http://schemas.microsoft.com/office/drawing/2014/main" id="{5A91F80D-247E-524C-B937-D8AC87792510}"/>
              </a:ext>
            </a:extLst>
          </p:cNvPr>
          <p:cNvGrpSpPr/>
          <p:nvPr/>
        </p:nvGrpSpPr>
        <p:grpSpPr>
          <a:xfrm>
            <a:off x="8175725" y="1056165"/>
            <a:ext cx="905030" cy="5314726"/>
            <a:chOff x="-2443535" y="1100186"/>
            <a:chExt cx="905030" cy="5827163"/>
          </a:xfrm>
        </p:grpSpPr>
        <p:sp>
          <p:nvSpPr>
            <p:cNvPr id="41" name="Прямоугольник 96">
              <a:extLst>
                <a:ext uri="{FF2B5EF4-FFF2-40B4-BE49-F238E27FC236}">
                  <a16:creationId xmlns:a16="http://schemas.microsoft.com/office/drawing/2014/main" id="{5CB6144A-FDBF-4842-A4F7-B4E967BC9D97}"/>
                </a:ext>
              </a:extLst>
            </p:cNvPr>
            <p:cNvSpPr/>
            <p:nvPr/>
          </p:nvSpPr>
          <p:spPr>
            <a:xfrm flipH="1">
              <a:off x="-2034537" y="1100186"/>
              <a:ext cx="87032" cy="87032"/>
            </a:xfrm>
            <a:prstGeom prst="rect">
              <a:avLst/>
            </a:prstGeom>
            <a:noFill/>
            <a:ln w="3175">
              <a:solidFill>
                <a:srgbClr val="1EDDC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2" name="Овал 61">
              <a:extLst>
                <a:ext uri="{FF2B5EF4-FFF2-40B4-BE49-F238E27FC236}">
                  <a16:creationId xmlns:a16="http://schemas.microsoft.com/office/drawing/2014/main" id="{CC3F1A61-FF41-594F-847F-E0D54060F7AA}"/>
                </a:ext>
              </a:extLst>
            </p:cNvPr>
            <p:cNvSpPr/>
            <p:nvPr/>
          </p:nvSpPr>
          <p:spPr>
            <a:xfrm>
              <a:off x="-2103242" y="6358472"/>
              <a:ext cx="224443" cy="232757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1EDDC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3" name="Овал 62">
              <a:extLst>
                <a:ext uri="{FF2B5EF4-FFF2-40B4-BE49-F238E27FC236}">
                  <a16:creationId xmlns:a16="http://schemas.microsoft.com/office/drawing/2014/main" id="{102A8408-EC73-2B49-9680-59D2B6E598A0}"/>
                </a:ext>
              </a:extLst>
            </p:cNvPr>
            <p:cNvSpPr/>
            <p:nvPr/>
          </p:nvSpPr>
          <p:spPr>
            <a:xfrm>
              <a:off x="-2158388" y="6307479"/>
              <a:ext cx="334736" cy="334734"/>
            </a:xfrm>
            <a:prstGeom prst="ellipse">
              <a:avLst/>
            </a:prstGeom>
            <a:noFill/>
            <a:ln w="3175">
              <a:solidFill>
                <a:srgbClr val="1EDDC3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cxnSp>
          <p:nvCxnSpPr>
            <p:cNvPr id="44" name="Прямая соединительная линия 63">
              <a:extLst>
                <a:ext uri="{FF2B5EF4-FFF2-40B4-BE49-F238E27FC236}">
                  <a16:creationId xmlns:a16="http://schemas.microsoft.com/office/drawing/2014/main" id="{31D9BA8B-EB16-574E-AA8F-D4EA5690375C}"/>
                </a:ext>
              </a:extLst>
            </p:cNvPr>
            <p:cNvCxnSpPr/>
            <p:nvPr/>
          </p:nvCxnSpPr>
          <p:spPr>
            <a:xfrm rot="16200000" flipV="1">
              <a:off x="-1991020" y="6022331"/>
              <a:ext cx="0" cy="905030"/>
            </a:xfrm>
            <a:prstGeom prst="line">
              <a:avLst/>
            </a:prstGeom>
            <a:noFill/>
            <a:ln w="3175">
              <a:solidFill>
                <a:srgbClr val="1EDDC3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5" name="Прямая соединительная линия 73">
              <a:extLst>
                <a:ext uri="{FF2B5EF4-FFF2-40B4-BE49-F238E27FC236}">
                  <a16:creationId xmlns:a16="http://schemas.microsoft.com/office/drawing/2014/main" id="{16CA7E5D-C76D-1749-9D1C-D02D1574ACA4}"/>
                </a:ext>
              </a:extLst>
            </p:cNvPr>
            <p:cNvCxnSpPr/>
            <p:nvPr/>
          </p:nvCxnSpPr>
          <p:spPr>
            <a:xfrm flipV="1">
              <a:off x="-1991020" y="1179042"/>
              <a:ext cx="0" cy="5748307"/>
            </a:xfrm>
            <a:prstGeom prst="line">
              <a:avLst/>
            </a:prstGeom>
            <a:noFill/>
            <a:ln w="3175">
              <a:solidFill>
                <a:srgbClr val="1EDDC3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49" name="Group 143">
            <a:extLst>
              <a:ext uri="{FF2B5EF4-FFF2-40B4-BE49-F238E27FC236}">
                <a16:creationId xmlns:a16="http://schemas.microsoft.com/office/drawing/2014/main" id="{CBF26E5D-4580-2C4B-A740-C2DE64E985CC}"/>
              </a:ext>
            </a:extLst>
          </p:cNvPr>
          <p:cNvGrpSpPr/>
          <p:nvPr/>
        </p:nvGrpSpPr>
        <p:grpSpPr>
          <a:xfrm>
            <a:off x="6299106" y="1055999"/>
            <a:ext cx="905030" cy="5314891"/>
            <a:chOff x="-2443535" y="1100186"/>
            <a:chExt cx="905030" cy="5827163"/>
          </a:xfrm>
        </p:grpSpPr>
        <p:sp>
          <p:nvSpPr>
            <p:cNvPr id="50" name="Прямоугольник 96">
              <a:extLst>
                <a:ext uri="{FF2B5EF4-FFF2-40B4-BE49-F238E27FC236}">
                  <a16:creationId xmlns:a16="http://schemas.microsoft.com/office/drawing/2014/main" id="{17438094-7D9C-694B-9470-16EB9A48E5F5}"/>
                </a:ext>
              </a:extLst>
            </p:cNvPr>
            <p:cNvSpPr/>
            <p:nvPr/>
          </p:nvSpPr>
          <p:spPr>
            <a:xfrm flipH="1">
              <a:off x="-2034537" y="1100186"/>
              <a:ext cx="87032" cy="87032"/>
            </a:xfrm>
            <a:prstGeom prst="rect">
              <a:avLst/>
            </a:prstGeom>
            <a:noFill/>
            <a:ln w="3175">
              <a:solidFill>
                <a:srgbClr val="1EDDC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1" name="Овал 61">
              <a:extLst>
                <a:ext uri="{FF2B5EF4-FFF2-40B4-BE49-F238E27FC236}">
                  <a16:creationId xmlns:a16="http://schemas.microsoft.com/office/drawing/2014/main" id="{6A846024-9560-E74A-AFA8-28C510755EE3}"/>
                </a:ext>
              </a:extLst>
            </p:cNvPr>
            <p:cNvSpPr/>
            <p:nvPr/>
          </p:nvSpPr>
          <p:spPr>
            <a:xfrm>
              <a:off x="-2103242" y="6358472"/>
              <a:ext cx="224443" cy="232757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1EDDC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2" name="Овал 62">
              <a:extLst>
                <a:ext uri="{FF2B5EF4-FFF2-40B4-BE49-F238E27FC236}">
                  <a16:creationId xmlns:a16="http://schemas.microsoft.com/office/drawing/2014/main" id="{23B413E8-6AC4-6549-BAD8-8F34D5C40C97}"/>
                </a:ext>
              </a:extLst>
            </p:cNvPr>
            <p:cNvSpPr/>
            <p:nvPr/>
          </p:nvSpPr>
          <p:spPr>
            <a:xfrm>
              <a:off x="-2158388" y="6307479"/>
              <a:ext cx="334736" cy="334734"/>
            </a:xfrm>
            <a:prstGeom prst="ellipse">
              <a:avLst/>
            </a:prstGeom>
            <a:noFill/>
            <a:ln w="3175">
              <a:solidFill>
                <a:srgbClr val="1EDDC3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cxnSp>
          <p:nvCxnSpPr>
            <p:cNvPr id="53" name="Прямая соединительная линия 63">
              <a:extLst>
                <a:ext uri="{FF2B5EF4-FFF2-40B4-BE49-F238E27FC236}">
                  <a16:creationId xmlns:a16="http://schemas.microsoft.com/office/drawing/2014/main" id="{11922A41-9BCB-4243-90E8-08455CBE808A}"/>
                </a:ext>
              </a:extLst>
            </p:cNvPr>
            <p:cNvCxnSpPr/>
            <p:nvPr/>
          </p:nvCxnSpPr>
          <p:spPr>
            <a:xfrm rot="16200000" flipV="1">
              <a:off x="-1991020" y="6022331"/>
              <a:ext cx="0" cy="905030"/>
            </a:xfrm>
            <a:prstGeom prst="line">
              <a:avLst/>
            </a:prstGeom>
            <a:noFill/>
            <a:ln w="3175">
              <a:solidFill>
                <a:srgbClr val="1EDDC3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4" name="Прямая соединительная линия 73">
              <a:extLst>
                <a:ext uri="{FF2B5EF4-FFF2-40B4-BE49-F238E27FC236}">
                  <a16:creationId xmlns:a16="http://schemas.microsoft.com/office/drawing/2014/main" id="{DEBF1F38-603D-1949-AB6B-58FDA2EF6985}"/>
                </a:ext>
              </a:extLst>
            </p:cNvPr>
            <p:cNvCxnSpPr/>
            <p:nvPr/>
          </p:nvCxnSpPr>
          <p:spPr>
            <a:xfrm flipV="1">
              <a:off x="-1991020" y="1179042"/>
              <a:ext cx="0" cy="5748307"/>
            </a:xfrm>
            <a:prstGeom prst="line">
              <a:avLst/>
            </a:prstGeom>
            <a:noFill/>
            <a:ln w="3175">
              <a:solidFill>
                <a:srgbClr val="1EDDC3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81" name="Group 143">
            <a:extLst>
              <a:ext uri="{FF2B5EF4-FFF2-40B4-BE49-F238E27FC236}">
                <a16:creationId xmlns:a16="http://schemas.microsoft.com/office/drawing/2014/main" id="{EF58764E-BDCA-404A-814E-87EC165DB042}"/>
              </a:ext>
            </a:extLst>
          </p:cNvPr>
          <p:cNvGrpSpPr/>
          <p:nvPr/>
        </p:nvGrpSpPr>
        <p:grpSpPr>
          <a:xfrm>
            <a:off x="4735432" y="1048832"/>
            <a:ext cx="905030" cy="5324025"/>
            <a:chOff x="-2443535" y="1100186"/>
            <a:chExt cx="905030" cy="5827163"/>
          </a:xfrm>
        </p:grpSpPr>
        <p:sp>
          <p:nvSpPr>
            <p:cNvPr id="82" name="Прямоугольник 96">
              <a:extLst>
                <a:ext uri="{FF2B5EF4-FFF2-40B4-BE49-F238E27FC236}">
                  <a16:creationId xmlns:a16="http://schemas.microsoft.com/office/drawing/2014/main" id="{8491D3A9-20C9-FF40-A766-130DC82BD782}"/>
                </a:ext>
              </a:extLst>
            </p:cNvPr>
            <p:cNvSpPr/>
            <p:nvPr/>
          </p:nvSpPr>
          <p:spPr>
            <a:xfrm flipH="1">
              <a:off x="-2034537" y="1100186"/>
              <a:ext cx="87032" cy="87032"/>
            </a:xfrm>
            <a:prstGeom prst="rect">
              <a:avLst/>
            </a:prstGeom>
            <a:noFill/>
            <a:ln w="3175">
              <a:solidFill>
                <a:srgbClr val="1EDDC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3" name="Овал 61">
              <a:extLst>
                <a:ext uri="{FF2B5EF4-FFF2-40B4-BE49-F238E27FC236}">
                  <a16:creationId xmlns:a16="http://schemas.microsoft.com/office/drawing/2014/main" id="{344DE5E4-C699-834E-85EA-4995E958475B}"/>
                </a:ext>
              </a:extLst>
            </p:cNvPr>
            <p:cNvSpPr/>
            <p:nvPr/>
          </p:nvSpPr>
          <p:spPr>
            <a:xfrm>
              <a:off x="-2103242" y="6358472"/>
              <a:ext cx="224443" cy="232757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1EDDC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4" name="Овал 62">
              <a:extLst>
                <a:ext uri="{FF2B5EF4-FFF2-40B4-BE49-F238E27FC236}">
                  <a16:creationId xmlns:a16="http://schemas.microsoft.com/office/drawing/2014/main" id="{5194DA7D-4F58-024C-89A3-FBE9414D6AF5}"/>
                </a:ext>
              </a:extLst>
            </p:cNvPr>
            <p:cNvSpPr/>
            <p:nvPr/>
          </p:nvSpPr>
          <p:spPr>
            <a:xfrm>
              <a:off x="-2158388" y="6307479"/>
              <a:ext cx="334736" cy="334734"/>
            </a:xfrm>
            <a:prstGeom prst="ellipse">
              <a:avLst/>
            </a:prstGeom>
            <a:noFill/>
            <a:ln w="3175">
              <a:solidFill>
                <a:srgbClr val="1EDDC3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cxnSp>
          <p:nvCxnSpPr>
            <p:cNvPr id="85" name="Прямая соединительная линия 63">
              <a:extLst>
                <a:ext uri="{FF2B5EF4-FFF2-40B4-BE49-F238E27FC236}">
                  <a16:creationId xmlns:a16="http://schemas.microsoft.com/office/drawing/2014/main" id="{49ACC1B1-52BD-3A45-8B2E-F24E9E4261F0}"/>
                </a:ext>
              </a:extLst>
            </p:cNvPr>
            <p:cNvCxnSpPr/>
            <p:nvPr/>
          </p:nvCxnSpPr>
          <p:spPr>
            <a:xfrm rot="16200000" flipV="1">
              <a:off x="-1991020" y="6022331"/>
              <a:ext cx="0" cy="905030"/>
            </a:xfrm>
            <a:prstGeom prst="line">
              <a:avLst/>
            </a:prstGeom>
            <a:noFill/>
            <a:ln w="3175">
              <a:solidFill>
                <a:srgbClr val="1EDDC3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6" name="Прямая соединительная линия 73">
              <a:extLst>
                <a:ext uri="{FF2B5EF4-FFF2-40B4-BE49-F238E27FC236}">
                  <a16:creationId xmlns:a16="http://schemas.microsoft.com/office/drawing/2014/main" id="{32447651-F9B4-0545-B127-3C5D5D556AA3}"/>
                </a:ext>
              </a:extLst>
            </p:cNvPr>
            <p:cNvCxnSpPr/>
            <p:nvPr/>
          </p:nvCxnSpPr>
          <p:spPr>
            <a:xfrm flipV="1">
              <a:off x="-1991020" y="1179042"/>
              <a:ext cx="0" cy="5748307"/>
            </a:xfrm>
            <a:prstGeom prst="line">
              <a:avLst/>
            </a:prstGeom>
            <a:noFill/>
            <a:ln w="3175">
              <a:solidFill>
                <a:srgbClr val="1EDDC3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19" name="Group 98">
            <a:extLst>
              <a:ext uri="{FF2B5EF4-FFF2-40B4-BE49-F238E27FC236}">
                <a16:creationId xmlns:a16="http://schemas.microsoft.com/office/drawing/2014/main" id="{7B1C1028-31BC-0E47-A416-A5365A2F81CC}"/>
              </a:ext>
            </a:extLst>
          </p:cNvPr>
          <p:cNvGrpSpPr/>
          <p:nvPr/>
        </p:nvGrpSpPr>
        <p:grpSpPr>
          <a:xfrm>
            <a:off x="10050245" y="1056165"/>
            <a:ext cx="905030" cy="5325336"/>
            <a:chOff x="-2443535" y="1100186"/>
            <a:chExt cx="905030" cy="5827163"/>
          </a:xfrm>
        </p:grpSpPr>
        <p:sp>
          <p:nvSpPr>
            <p:cNvPr id="120" name="Прямоугольник 96">
              <a:extLst>
                <a:ext uri="{FF2B5EF4-FFF2-40B4-BE49-F238E27FC236}">
                  <a16:creationId xmlns:a16="http://schemas.microsoft.com/office/drawing/2014/main" id="{C0DD4837-B631-AF47-AD13-868C629D37D8}"/>
                </a:ext>
              </a:extLst>
            </p:cNvPr>
            <p:cNvSpPr/>
            <p:nvPr/>
          </p:nvSpPr>
          <p:spPr>
            <a:xfrm flipH="1">
              <a:off x="-2034537" y="1100186"/>
              <a:ext cx="87032" cy="87032"/>
            </a:xfrm>
            <a:prstGeom prst="rect">
              <a:avLst/>
            </a:prstGeom>
            <a:noFill/>
            <a:ln w="3175">
              <a:solidFill>
                <a:srgbClr val="1EDDC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1" name="Овал 61">
              <a:extLst>
                <a:ext uri="{FF2B5EF4-FFF2-40B4-BE49-F238E27FC236}">
                  <a16:creationId xmlns:a16="http://schemas.microsoft.com/office/drawing/2014/main" id="{1B2DAE1F-B5FF-A14B-8917-28D9B06596B0}"/>
                </a:ext>
              </a:extLst>
            </p:cNvPr>
            <p:cNvSpPr/>
            <p:nvPr/>
          </p:nvSpPr>
          <p:spPr>
            <a:xfrm>
              <a:off x="-2103242" y="6358472"/>
              <a:ext cx="224443" cy="232757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1EDDC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2" name="Овал 62">
              <a:extLst>
                <a:ext uri="{FF2B5EF4-FFF2-40B4-BE49-F238E27FC236}">
                  <a16:creationId xmlns:a16="http://schemas.microsoft.com/office/drawing/2014/main" id="{AF7F62D8-DFE9-6740-9FD8-CD6E5CD30873}"/>
                </a:ext>
              </a:extLst>
            </p:cNvPr>
            <p:cNvSpPr/>
            <p:nvPr/>
          </p:nvSpPr>
          <p:spPr>
            <a:xfrm>
              <a:off x="-2158388" y="6307479"/>
              <a:ext cx="334736" cy="334734"/>
            </a:xfrm>
            <a:prstGeom prst="ellipse">
              <a:avLst/>
            </a:prstGeom>
            <a:noFill/>
            <a:ln w="3175">
              <a:solidFill>
                <a:srgbClr val="1EDDC3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cxnSp>
          <p:nvCxnSpPr>
            <p:cNvPr id="123" name="Прямая соединительная линия 63">
              <a:extLst>
                <a:ext uri="{FF2B5EF4-FFF2-40B4-BE49-F238E27FC236}">
                  <a16:creationId xmlns:a16="http://schemas.microsoft.com/office/drawing/2014/main" id="{C7913BAF-4C34-7A43-A27D-7A8EC2FFF602}"/>
                </a:ext>
              </a:extLst>
            </p:cNvPr>
            <p:cNvCxnSpPr/>
            <p:nvPr/>
          </p:nvCxnSpPr>
          <p:spPr>
            <a:xfrm rot="16200000" flipV="1">
              <a:off x="-1991020" y="6022331"/>
              <a:ext cx="0" cy="905030"/>
            </a:xfrm>
            <a:prstGeom prst="line">
              <a:avLst/>
            </a:prstGeom>
            <a:noFill/>
            <a:ln w="3175">
              <a:solidFill>
                <a:srgbClr val="1EDDC3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24" name="Прямая соединительная линия 73">
              <a:extLst>
                <a:ext uri="{FF2B5EF4-FFF2-40B4-BE49-F238E27FC236}">
                  <a16:creationId xmlns:a16="http://schemas.microsoft.com/office/drawing/2014/main" id="{60245351-94BE-9B4E-B6A4-8111D2DCCD4D}"/>
                </a:ext>
              </a:extLst>
            </p:cNvPr>
            <p:cNvCxnSpPr/>
            <p:nvPr/>
          </p:nvCxnSpPr>
          <p:spPr>
            <a:xfrm flipV="1">
              <a:off x="-1991020" y="1179042"/>
              <a:ext cx="0" cy="5748307"/>
            </a:xfrm>
            <a:prstGeom prst="line">
              <a:avLst/>
            </a:prstGeom>
            <a:noFill/>
            <a:ln w="3175">
              <a:solidFill>
                <a:srgbClr val="1EDDC3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28" name="Group 5">
            <a:extLst>
              <a:ext uri="{FF2B5EF4-FFF2-40B4-BE49-F238E27FC236}">
                <a16:creationId xmlns:a16="http://schemas.microsoft.com/office/drawing/2014/main" id="{9821D453-DC35-D646-9686-CC3833EFE5B1}"/>
              </a:ext>
            </a:extLst>
          </p:cNvPr>
          <p:cNvGrpSpPr/>
          <p:nvPr/>
        </p:nvGrpSpPr>
        <p:grpSpPr>
          <a:xfrm>
            <a:off x="1757259" y="1067885"/>
            <a:ext cx="905030" cy="5316693"/>
            <a:chOff x="-2443535" y="1100186"/>
            <a:chExt cx="905030" cy="5827163"/>
          </a:xfrm>
        </p:grpSpPr>
        <p:sp>
          <p:nvSpPr>
            <p:cNvPr id="129" name="Прямоугольник 128">
              <a:extLst>
                <a:ext uri="{FF2B5EF4-FFF2-40B4-BE49-F238E27FC236}">
                  <a16:creationId xmlns:a16="http://schemas.microsoft.com/office/drawing/2014/main" id="{DBEC8A82-E432-3444-8530-C92974E13423}"/>
                </a:ext>
              </a:extLst>
            </p:cNvPr>
            <p:cNvSpPr/>
            <p:nvPr/>
          </p:nvSpPr>
          <p:spPr>
            <a:xfrm flipH="1">
              <a:off x="-2034537" y="1100186"/>
              <a:ext cx="87032" cy="87032"/>
            </a:xfrm>
            <a:prstGeom prst="rect">
              <a:avLst/>
            </a:prstGeom>
            <a:noFill/>
            <a:ln w="3175">
              <a:solidFill>
                <a:srgbClr val="1EDDC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0" name="Овал 61">
              <a:extLst>
                <a:ext uri="{FF2B5EF4-FFF2-40B4-BE49-F238E27FC236}">
                  <a16:creationId xmlns:a16="http://schemas.microsoft.com/office/drawing/2014/main" id="{2774353A-DAB5-EB44-AE69-6F90DE4845EA}"/>
                </a:ext>
              </a:extLst>
            </p:cNvPr>
            <p:cNvSpPr/>
            <p:nvPr/>
          </p:nvSpPr>
          <p:spPr>
            <a:xfrm>
              <a:off x="-2103242" y="6358472"/>
              <a:ext cx="224443" cy="232757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1EDDC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1" name="Овал 62">
              <a:extLst>
                <a:ext uri="{FF2B5EF4-FFF2-40B4-BE49-F238E27FC236}">
                  <a16:creationId xmlns:a16="http://schemas.microsoft.com/office/drawing/2014/main" id="{CBF70566-BDB2-D347-953A-F65C23A86A25}"/>
                </a:ext>
              </a:extLst>
            </p:cNvPr>
            <p:cNvSpPr/>
            <p:nvPr/>
          </p:nvSpPr>
          <p:spPr>
            <a:xfrm>
              <a:off x="-2158388" y="6307479"/>
              <a:ext cx="334736" cy="334734"/>
            </a:xfrm>
            <a:prstGeom prst="ellipse">
              <a:avLst/>
            </a:prstGeom>
            <a:noFill/>
            <a:ln w="3175">
              <a:solidFill>
                <a:srgbClr val="1EDDC3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cxnSp>
          <p:nvCxnSpPr>
            <p:cNvPr id="132" name="Прямая соединительная линия 63">
              <a:extLst>
                <a:ext uri="{FF2B5EF4-FFF2-40B4-BE49-F238E27FC236}">
                  <a16:creationId xmlns:a16="http://schemas.microsoft.com/office/drawing/2014/main" id="{0E30F1C5-E5B3-2643-B04E-A490777BF4AD}"/>
                </a:ext>
              </a:extLst>
            </p:cNvPr>
            <p:cNvCxnSpPr/>
            <p:nvPr/>
          </p:nvCxnSpPr>
          <p:spPr>
            <a:xfrm rot="16200000" flipV="1">
              <a:off x="-1991020" y="6022331"/>
              <a:ext cx="0" cy="905030"/>
            </a:xfrm>
            <a:prstGeom prst="line">
              <a:avLst/>
            </a:prstGeom>
            <a:noFill/>
            <a:ln w="3175">
              <a:solidFill>
                <a:srgbClr val="1EDDC3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3" name="Прямая соединительная линия 73">
              <a:extLst>
                <a:ext uri="{FF2B5EF4-FFF2-40B4-BE49-F238E27FC236}">
                  <a16:creationId xmlns:a16="http://schemas.microsoft.com/office/drawing/2014/main" id="{2276BD48-02B1-994D-983B-BB36D20BA178}"/>
                </a:ext>
              </a:extLst>
            </p:cNvPr>
            <p:cNvCxnSpPr/>
            <p:nvPr/>
          </p:nvCxnSpPr>
          <p:spPr>
            <a:xfrm flipV="1">
              <a:off x="-1991020" y="1179042"/>
              <a:ext cx="0" cy="5748307"/>
            </a:xfrm>
            <a:prstGeom prst="line">
              <a:avLst/>
            </a:prstGeom>
            <a:noFill/>
            <a:ln w="3175">
              <a:solidFill>
                <a:srgbClr val="1EDDC3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34" name="TextBox 133">
            <a:extLst>
              <a:ext uri="{FF2B5EF4-FFF2-40B4-BE49-F238E27FC236}">
                <a16:creationId xmlns:a16="http://schemas.microsoft.com/office/drawing/2014/main" id="{3600D397-DDFA-494E-9F20-88E7BF29D948}"/>
              </a:ext>
            </a:extLst>
          </p:cNvPr>
          <p:cNvSpPr txBox="1"/>
          <p:nvPr/>
        </p:nvSpPr>
        <p:spPr>
          <a:xfrm>
            <a:off x="546745" y="6064877"/>
            <a:ext cx="17386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1200" b="1" dirty="0">
                <a:solidFill>
                  <a:srgbClr val="383288"/>
                </a:solidFill>
              </a:rPr>
              <a:t>Начало</a:t>
            </a:r>
          </a:p>
          <a:p>
            <a:pPr algn="r"/>
            <a:r>
              <a:rPr lang="ru-RU" sz="1200" i="1" dirty="0">
                <a:solidFill>
                  <a:srgbClr val="00B050"/>
                </a:solidFill>
              </a:rPr>
              <a:t>дата</a:t>
            </a:r>
          </a:p>
        </p:txBody>
      </p:sp>
      <p:sp>
        <p:nvSpPr>
          <p:cNvPr id="137" name="Прямоугольник 136">
            <a:extLst>
              <a:ext uri="{FF2B5EF4-FFF2-40B4-BE49-F238E27FC236}">
                <a16:creationId xmlns:a16="http://schemas.microsoft.com/office/drawing/2014/main" id="{602E6B72-B4AC-C04C-A63C-52681133DABF}"/>
              </a:ext>
            </a:extLst>
          </p:cNvPr>
          <p:cNvSpPr/>
          <p:nvPr/>
        </p:nvSpPr>
        <p:spPr>
          <a:xfrm>
            <a:off x="6870815" y="5265508"/>
            <a:ext cx="167849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"/>
            <a:r>
              <a:rPr lang="ru-RU" sz="1400" dirty="0">
                <a:solidFill>
                  <a:srgbClr val="000000"/>
                </a:solidFill>
              </a:rPr>
              <a:t>реализация </a:t>
            </a:r>
            <a:r>
              <a:rPr lang="ru-RU" sz="1400" dirty="0" err="1">
                <a:solidFill>
                  <a:srgbClr val="000000"/>
                </a:solidFill>
              </a:rPr>
              <a:t>нейросети</a:t>
            </a:r>
            <a:endParaRPr lang="en-US" sz="1400" dirty="0">
              <a:solidFill>
                <a:srgbClr val="000000"/>
              </a:solidFill>
            </a:endParaRPr>
          </a:p>
        </p:txBody>
      </p:sp>
      <p:cxnSp>
        <p:nvCxnSpPr>
          <p:cNvPr id="138" name="Прямая со стрелкой 137">
            <a:extLst>
              <a:ext uri="{FF2B5EF4-FFF2-40B4-BE49-F238E27FC236}">
                <a16:creationId xmlns:a16="http://schemas.microsoft.com/office/drawing/2014/main" id="{30CBDA6E-2816-1F4F-B522-62FC3A4FC939}"/>
              </a:ext>
            </a:extLst>
          </p:cNvPr>
          <p:cNvCxnSpPr>
            <a:cxnSpLocks/>
          </p:cNvCxnSpPr>
          <p:nvPr/>
        </p:nvCxnSpPr>
        <p:spPr>
          <a:xfrm>
            <a:off x="6989236" y="5784375"/>
            <a:ext cx="1587022" cy="8802"/>
          </a:xfrm>
          <a:prstGeom prst="straightConnector1">
            <a:avLst/>
          </a:prstGeom>
          <a:ln w="28575" cap="rnd">
            <a:solidFill>
              <a:schemeClr val="accent2"/>
            </a:solidFill>
            <a:headEnd type="oval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Прямая со стрелкой 89">
            <a:extLst>
              <a:ext uri="{FF2B5EF4-FFF2-40B4-BE49-F238E27FC236}">
                <a16:creationId xmlns:a16="http://schemas.microsoft.com/office/drawing/2014/main" id="{58C433E6-609E-7D41-BFD0-F3453FEEF5C6}"/>
              </a:ext>
            </a:extLst>
          </p:cNvPr>
          <p:cNvCxnSpPr/>
          <p:nvPr/>
        </p:nvCxnSpPr>
        <p:spPr>
          <a:xfrm>
            <a:off x="6795136" y="3808073"/>
            <a:ext cx="991301" cy="0"/>
          </a:xfrm>
          <a:prstGeom prst="straightConnector1">
            <a:avLst/>
          </a:prstGeom>
          <a:ln w="28575" cap="rnd">
            <a:solidFill>
              <a:schemeClr val="accent2"/>
            </a:solidFill>
            <a:headEnd type="oval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41" name="Таблица 140">
            <a:extLst>
              <a:ext uri="{FF2B5EF4-FFF2-40B4-BE49-F238E27FC236}">
                <a16:creationId xmlns:a16="http://schemas.microsoft.com/office/drawing/2014/main" id="{3C6C9CEC-5622-E040-AB4F-E2B6416644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4560701"/>
              </p:ext>
            </p:extLst>
          </p:nvPr>
        </p:nvGraphicFramePr>
        <p:xfrm>
          <a:off x="8805347" y="2732719"/>
          <a:ext cx="1617656" cy="640080"/>
        </p:xfrm>
        <a:graphic>
          <a:graphicData uri="http://schemas.openxmlformats.org/drawingml/2006/table">
            <a:tbl>
              <a:tblPr/>
              <a:tblGrid>
                <a:gridCol w="16176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09865"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визуализация с помощью графиков и карт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2" name="Таблица 141">
            <a:extLst>
              <a:ext uri="{FF2B5EF4-FFF2-40B4-BE49-F238E27FC236}">
                <a16:creationId xmlns:a16="http://schemas.microsoft.com/office/drawing/2014/main" id="{8BC6A99F-7767-D643-A663-8ECEC1D1F1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0136144"/>
              </p:ext>
            </p:extLst>
          </p:nvPr>
        </p:nvGraphicFramePr>
        <p:xfrm>
          <a:off x="7225729" y="4034640"/>
          <a:ext cx="1240331" cy="426720"/>
        </p:xfrm>
        <a:graphic>
          <a:graphicData uri="http://schemas.openxmlformats.org/drawingml/2006/table">
            <a:tbl>
              <a:tblPr/>
              <a:tblGrid>
                <a:gridCol w="12403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CNN, RNN+LSTM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3" name="Таблица 142">
            <a:extLst>
              <a:ext uri="{FF2B5EF4-FFF2-40B4-BE49-F238E27FC236}">
                <a16:creationId xmlns:a16="http://schemas.microsoft.com/office/drawing/2014/main" id="{8AF17772-42FE-E946-A117-15F775C1B9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5247959"/>
              </p:ext>
            </p:extLst>
          </p:nvPr>
        </p:nvGraphicFramePr>
        <p:xfrm>
          <a:off x="3937844" y="2680792"/>
          <a:ext cx="1124785" cy="640080"/>
        </p:xfrm>
        <a:graphic>
          <a:graphicData uri="http://schemas.openxmlformats.org/drawingml/2006/table">
            <a:tbl>
              <a:tblPr/>
              <a:tblGrid>
                <a:gridCol w="11247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методика извлечения эмоций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44" name="Прямоугольник 143">
            <a:extLst>
              <a:ext uri="{FF2B5EF4-FFF2-40B4-BE49-F238E27FC236}">
                <a16:creationId xmlns:a16="http://schemas.microsoft.com/office/drawing/2014/main" id="{2DBDA88B-7F79-294B-BF52-B97F3E8CC9DB}"/>
              </a:ext>
            </a:extLst>
          </p:cNvPr>
          <p:cNvSpPr/>
          <p:nvPr/>
        </p:nvSpPr>
        <p:spPr>
          <a:xfrm>
            <a:off x="5223104" y="2732527"/>
            <a:ext cx="1618694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"/>
            <a:r>
              <a:rPr lang="ru-RU" sz="1400" dirty="0">
                <a:solidFill>
                  <a:srgbClr val="000000"/>
                </a:solidFill>
              </a:rPr>
              <a:t>методика предобработки данных</a:t>
            </a:r>
          </a:p>
        </p:txBody>
      </p:sp>
      <p:graphicFrame>
        <p:nvGraphicFramePr>
          <p:cNvPr id="147" name="Таблица 146">
            <a:extLst>
              <a:ext uri="{FF2B5EF4-FFF2-40B4-BE49-F238E27FC236}">
                <a16:creationId xmlns:a16="http://schemas.microsoft.com/office/drawing/2014/main" id="{90372B40-815A-D045-8207-0801AECE98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9326460"/>
              </p:ext>
            </p:extLst>
          </p:nvPr>
        </p:nvGraphicFramePr>
        <p:xfrm>
          <a:off x="6869978" y="1193054"/>
          <a:ext cx="1491239" cy="640080"/>
        </p:xfrm>
        <a:graphic>
          <a:graphicData uri="http://schemas.openxmlformats.org/drawingml/2006/table">
            <a:tbl>
              <a:tblPr/>
              <a:tblGrid>
                <a:gridCol w="14912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изучение методов классификации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54" name="Прямоугольник 153">
            <a:extLst>
              <a:ext uri="{FF2B5EF4-FFF2-40B4-BE49-F238E27FC236}">
                <a16:creationId xmlns:a16="http://schemas.microsoft.com/office/drawing/2014/main" id="{ABF37DFE-2E8E-6240-B295-7A1190755916}"/>
              </a:ext>
            </a:extLst>
          </p:cNvPr>
          <p:cNvSpPr/>
          <p:nvPr/>
        </p:nvSpPr>
        <p:spPr>
          <a:xfrm>
            <a:off x="4611919" y="466183"/>
            <a:ext cx="743055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i="1" dirty="0">
                <a:solidFill>
                  <a:srgbClr val="00B050"/>
                </a:solidFill>
              </a:rPr>
              <a:t>Описание этапов работ на трех уровнях: знание, метод и реализация. Не забывайте даты ключевых точек!</a:t>
            </a:r>
          </a:p>
        </p:txBody>
      </p:sp>
      <p:pic>
        <p:nvPicPr>
          <p:cNvPr id="155" name="Рисунок 154">
            <a:extLst>
              <a:ext uri="{FF2B5EF4-FFF2-40B4-BE49-F238E27FC236}">
                <a16:creationId xmlns:a16="http://schemas.microsoft.com/office/drawing/2014/main" id="{AEA43591-E403-5D47-9394-16BB8DC4A3F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2019" y="1515220"/>
            <a:ext cx="761293" cy="761293"/>
          </a:xfrm>
          <a:prstGeom prst="rect">
            <a:avLst/>
          </a:prstGeom>
        </p:spPr>
      </p:pic>
      <p:pic>
        <p:nvPicPr>
          <p:cNvPr id="156" name="Рисунок 155">
            <a:extLst>
              <a:ext uri="{FF2B5EF4-FFF2-40B4-BE49-F238E27FC236}">
                <a16:creationId xmlns:a16="http://schemas.microsoft.com/office/drawing/2014/main" id="{DC2E4748-00A0-E749-AFC1-B394833F668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8874" y="3154977"/>
            <a:ext cx="700932" cy="700932"/>
          </a:xfrm>
          <a:prstGeom prst="rect">
            <a:avLst/>
          </a:prstGeom>
        </p:spPr>
      </p:pic>
      <p:pic>
        <p:nvPicPr>
          <p:cNvPr id="157" name="Рисунок 156">
            <a:extLst>
              <a:ext uri="{FF2B5EF4-FFF2-40B4-BE49-F238E27FC236}">
                <a16:creationId xmlns:a16="http://schemas.microsoft.com/office/drawing/2014/main" id="{F57C7E35-B31F-D649-9D74-10DC08B768D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1863" y="4661536"/>
            <a:ext cx="778684" cy="778684"/>
          </a:xfrm>
          <a:prstGeom prst="rect">
            <a:avLst/>
          </a:prstGeom>
        </p:spPr>
      </p:pic>
      <p:sp>
        <p:nvSpPr>
          <p:cNvPr id="102" name="TextBox 101">
            <a:extLst>
              <a:ext uri="{FF2B5EF4-FFF2-40B4-BE49-F238E27FC236}">
                <a16:creationId xmlns:a16="http://schemas.microsoft.com/office/drawing/2014/main" id="{90E398ED-BF79-4D40-B5D5-979F6EF07747}"/>
              </a:ext>
            </a:extLst>
          </p:cNvPr>
          <p:cNvSpPr txBox="1"/>
          <p:nvPr/>
        </p:nvSpPr>
        <p:spPr>
          <a:xfrm>
            <a:off x="10210800" y="6524625"/>
            <a:ext cx="146526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solidFill>
                  <a:srgbClr val="383288"/>
                </a:solidFill>
              </a:rPr>
              <a:t>[</a:t>
            </a:r>
            <a:r>
              <a:rPr lang="ru-RU" sz="800" b="1" dirty="0">
                <a:solidFill>
                  <a:srgbClr val="383288"/>
                </a:solidFill>
              </a:rPr>
              <a:t>Аналитика проекта</a:t>
            </a:r>
            <a:r>
              <a:rPr lang="en-US" sz="800" b="1" dirty="0">
                <a:solidFill>
                  <a:srgbClr val="383288"/>
                </a:solidFill>
              </a:rPr>
              <a:t>]</a:t>
            </a:r>
            <a:endParaRPr lang="ru-RU" sz="800" b="1" dirty="0">
              <a:solidFill>
                <a:srgbClr val="383288"/>
              </a:solidFill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290C1297-00AC-414A-B811-4E763B3213C3}"/>
              </a:ext>
            </a:extLst>
          </p:cNvPr>
          <p:cNvSpPr txBox="1"/>
          <p:nvPr/>
        </p:nvSpPr>
        <p:spPr>
          <a:xfrm>
            <a:off x="340054" y="6512515"/>
            <a:ext cx="181259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solidFill>
                  <a:srgbClr val="383288"/>
                </a:solidFill>
              </a:rPr>
              <a:t>[</a:t>
            </a:r>
            <a:r>
              <a:rPr lang="ru-RU" sz="800" b="1" dirty="0">
                <a:solidFill>
                  <a:srgbClr val="383288"/>
                </a:solidFill>
              </a:rPr>
              <a:t>Краткое название</a:t>
            </a:r>
            <a:r>
              <a:rPr lang="en-US" sz="800" b="1" dirty="0">
                <a:solidFill>
                  <a:srgbClr val="383288"/>
                </a:solidFill>
              </a:rPr>
              <a:t>]</a:t>
            </a:r>
            <a:endParaRPr lang="ru-RU" sz="800" b="1" dirty="0">
              <a:solidFill>
                <a:srgbClr val="383288"/>
              </a:solidFill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E6506F3E-4A74-A849-B5E9-84F3249CC2AA}"/>
              </a:ext>
            </a:extLst>
          </p:cNvPr>
          <p:cNvSpPr txBox="1"/>
          <p:nvPr/>
        </p:nvSpPr>
        <p:spPr>
          <a:xfrm>
            <a:off x="5401722" y="6512515"/>
            <a:ext cx="156000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800" b="1" dirty="0">
                <a:solidFill>
                  <a:srgbClr val="38D4D6"/>
                </a:solidFill>
              </a:rPr>
              <a:t>НАПРАВЛЕНИЕ НЕЙРО</a:t>
            </a:r>
          </a:p>
        </p:txBody>
      </p:sp>
    </p:spTree>
    <p:extLst>
      <p:ext uri="{BB962C8B-B14F-4D97-AF65-F5344CB8AC3E}">
        <p14:creationId xmlns:p14="http://schemas.microsoft.com/office/powerpoint/2010/main" val="35211309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TextBox 9"/>
          <p:cNvSpPr txBox="1"/>
          <p:nvPr/>
        </p:nvSpPr>
        <p:spPr>
          <a:xfrm>
            <a:off x="6053884" y="133515"/>
            <a:ext cx="67787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383288"/>
                </a:solidFill>
              </a:rPr>
              <a:t>[</a:t>
            </a:r>
            <a:r>
              <a:rPr lang="ru-RU" sz="3600" b="1" dirty="0">
                <a:solidFill>
                  <a:srgbClr val="383288"/>
                </a:solidFill>
              </a:rPr>
              <a:t>Рабочая концепция</a:t>
            </a:r>
            <a:r>
              <a:rPr lang="en-US" sz="3600" b="1" dirty="0">
                <a:solidFill>
                  <a:srgbClr val="383288"/>
                </a:solidFill>
              </a:rPr>
              <a:t>]</a:t>
            </a:r>
            <a:endParaRPr lang="ru-RU" sz="3600" b="1" dirty="0">
              <a:solidFill>
                <a:srgbClr val="383288"/>
              </a:solidFill>
            </a:endParaRPr>
          </a:p>
        </p:txBody>
      </p:sp>
      <p:sp>
        <p:nvSpPr>
          <p:cNvPr id="14" name="Прямоугольник 13"/>
          <p:cNvSpPr/>
          <p:nvPr/>
        </p:nvSpPr>
        <p:spPr>
          <a:xfrm>
            <a:off x="0" y="0"/>
            <a:ext cx="216470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2" name="Группа 1"/>
          <p:cNvGrpSpPr/>
          <p:nvPr/>
        </p:nvGrpSpPr>
        <p:grpSpPr>
          <a:xfrm>
            <a:off x="9801247" y="3574297"/>
            <a:ext cx="2635727" cy="3381380"/>
            <a:chOff x="9801247" y="3574297"/>
            <a:chExt cx="2635727" cy="3381380"/>
          </a:xfrm>
          <a:solidFill>
            <a:schemeClr val="accent6"/>
          </a:solidFill>
        </p:grpSpPr>
        <p:sp>
          <p:nvSpPr>
            <p:cNvPr id="16" name="Прямоугольный треугольник 15"/>
            <p:cNvSpPr/>
            <p:nvPr/>
          </p:nvSpPr>
          <p:spPr>
            <a:xfrm rot="13510417">
              <a:off x="10870854" y="4374358"/>
              <a:ext cx="932316" cy="932316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7" name="Прямоугольный треугольник 36"/>
            <p:cNvSpPr/>
            <p:nvPr/>
          </p:nvSpPr>
          <p:spPr>
            <a:xfrm rot="16200000">
              <a:off x="10415717" y="5103353"/>
              <a:ext cx="1776283" cy="1776283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" name="Прямоугольный треугольник 18"/>
            <p:cNvSpPr/>
            <p:nvPr/>
          </p:nvSpPr>
          <p:spPr>
            <a:xfrm rot="2713161">
              <a:off x="11945188" y="3829630"/>
              <a:ext cx="491786" cy="491786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9" name="Прямоугольный треугольник 38"/>
            <p:cNvSpPr/>
            <p:nvPr/>
          </p:nvSpPr>
          <p:spPr>
            <a:xfrm rot="2713161">
              <a:off x="10148925" y="5593093"/>
              <a:ext cx="230485" cy="230485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0" name="Прямоугольный треугольник 39"/>
            <p:cNvSpPr/>
            <p:nvPr/>
          </p:nvSpPr>
          <p:spPr>
            <a:xfrm rot="10649316">
              <a:off x="10724440" y="5876251"/>
              <a:ext cx="230485" cy="230485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1" name="Прямоугольный треугольник 40"/>
            <p:cNvSpPr/>
            <p:nvPr/>
          </p:nvSpPr>
          <p:spPr>
            <a:xfrm rot="10800000">
              <a:off x="11381272" y="3574297"/>
              <a:ext cx="230485" cy="230485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2" name="Прямоугольный треугольник 41"/>
            <p:cNvSpPr/>
            <p:nvPr/>
          </p:nvSpPr>
          <p:spPr>
            <a:xfrm rot="5400000">
              <a:off x="10745530" y="5124987"/>
              <a:ext cx="331978" cy="331978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3" name="Прямоугольный треугольник 42"/>
            <p:cNvSpPr/>
            <p:nvPr/>
          </p:nvSpPr>
          <p:spPr>
            <a:xfrm rot="8098597">
              <a:off x="9801247" y="6420386"/>
              <a:ext cx="535291" cy="535291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3" name="Группа 2"/>
          <p:cNvGrpSpPr/>
          <p:nvPr/>
        </p:nvGrpSpPr>
        <p:grpSpPr>
          <a:xfrm rot="16200000">
            <a:off x="1573146" y="-207619"/>
            <a:ext cx="2253951" cy="2108727"/>
            <a:chOff x="1946747" y="-362880"/>
            <a:chExt cx="2253951" cy="2108727"/>
          </a:xfrm>
          <a:solidFill>
            <a:schemeClr val="accent6"/>
          </a:solidFill>
        </p:grpSpPr>
        <p:sp>
          <p:nvSpPr>
            <p:cNvPr id="15" name="Прямоугольный треугольник 14"/>
            <p:cNvSpPr/>
            <p:nvPr/>
          </p:nvSpPr>
          <p:spPr>
            <a:xfrm rot="5400000">
              <a:off x="2994908" y="1436783"/>
              <a:ext cx="309064" cy="309064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" name="Прямоугольный треугольник 16"/>
            <p:cNvSpPr/>
            <p:nvPr/>
          </p:nvSpPr>
          <p:spPr>
            <a:xfrm rot="10800000">
              <a:off x="1946747" y="927077"/>
              <a:ext cx="592037" cy="592037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" name="Прямоугольный треугольник 17"/>
            <p:cNvSpPr/>
            <p:nvPr/>
          </p:nvSpPr>
          <p:spPr>
            <a:xfrm rot="2698663">
              <a:off x="3640240" y="851726"/>
              <a:ext cx="560458" cy="560458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0" name="Прямоугольный треугольник 19"/>
            <p:cNvSpPr/>
            <p:nvPr/>
          </p:nvSpPr>
          <p:spPr>
            <a:xfrm rot="18911141">
              <a:off x="2425390" y="-362880"/>
              <a:ext cx="1016437" cy="1016437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055C50F3-5B04-2D47-9418-0E6DD0E19956}"/>
              </a:ext>
            </a:extLst>
          </p:cNvPr>
          <p:cNvSpPr/>
          <p:nvPr/>
        </p:nvSpPr>
        <p:spPr>
          <a:xfrm>
            <a:off x="5962790" y="3244334"/>
            <a:ext cx="2664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rgbClr val="000000"/>
                </a:solidFill>
              </a:rPr>
              <a:t> </a:t>
            </a:r>
            <a:endParaRPr lang="ru-RU" dirty="0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3FFC0352-520B-9044-83C9-5C25DF3DAF4F}"/>
              </a:ext>
            </a:extLst>
          </p:cNvPr>
          <p:cNvSpPr/>
          <p:nvPr/>
        </p:nvSpPr>
        <p:spPr>
          <a:xfrm>
            <a:off x="5962790" y="3244334"/>
            <a:ext cx="2664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rgbClr val="000000"/>
                </a:solidFill>
              </a:rPr>
              <a:t> </a:t>
            </a:r>
            <a:endParaRPr lang="ru-RU" dirty="0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83D30F53-D553-A544-8611-B7162950712F}"/>
              </a:ext>
            </a:extLst>
          </p:cNvPr>
          <p:cNvSpPr/>
          <p:nvPr/>
        </p:nvSpPr>
        <p:spPr>
          <a:xfrm>
            <a:off x="5962790" y="3244334"/>
            <a:ext cx="2664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rgbClr val="000000"/>
                </a:solidFill>
              </a:rPr>
              <a:t> </a:t>
            </a:r>
            <a:endParaRPr lang="ru-RU" dirty="0"/>
          </a:p>
        </p:txBody>
      </p:sp>
      <p:cxnSp>
        <p:nvCxnSpPr>
          <p:cNvPr id="28" name="Прямая соединительная линия 27">
            <a:extLst>
              <a:ext uri="{FF2B5EF4-FFF2-40B4-BE49-F238E27FC236}">
                <a16:creationId xmlns:a16="http://schemas.microsoft.com/office/drawing/2014/main" id="{385EEE3D-3448-2244-8B8B-05B86C7396A3}"/>
              </a:ext>
            </a:extLst>
          </p:cNvPr>
          <p:cNvCxnSpPr>
            <a:cxnSpLocks/>
          </p:cNvCxnSpPr>
          <p:nvPr/>
        </p:nvCxnSpPr>
        <p:spPr>
          <a:xfrm>
            <a:off x="-8796" y="6377178"/>
            <a:ext cx="9699180" cy="0"/>
          </a:xfrm>
          <a:prstGeom prst="line">
            <a:avLst/>
          </a:prstGeom>
          <a:ln w="38100"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7C2CD2B2-A3A0-E345-A615-2D96C953211D}"/>
              </a:ext>
            </a:extLst>
          </p:cNvPr>
          <p:cNvSpPr/>
          <p:nvPr/>
        </p:nvSpPr>
        <p:spPr>
          <a:xfrm>
            <a:off x="2935715" y="2370026"/>
            <a:ext cx="743055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i="1" dirty="0">
                <a:solidFill>
                  <a:srgbClr val="00B050"/>
                </a:solidFill>
              </a:rPr>
              <a:t>Описание концепции, например, модели </a:t>
            </a:r>
            <a:r>
              <a:rPr lang="ru-RU" sz="1600" i="1" dirty="0" err="1">
                <a:solidFill>
                  <a:srgbClr val="00B050"/>
                </a:solidFill>
              </a:rPr>
              <a:t>Келлермана-Плутчика</a:t>
            </a:r>
            <a:endParaRPr lang="ru-RU" sz="1600" i="1" dirty="0">
              <a:solidFill>
                <a:srgbClr val="00B050"/>
              </a:solidFill>
            </a:endParaRPr>
          </a:p>
        </p:txBody>
      </p:sp>
      <p:pic>
        <p:nvPicPr>
          <p:cNvPr id="44" name="Рисунок 43">
            <a:extLst>
              <a:ext uri="{FF2B5EF4-FFF2-40B4-BE49-F238E27FC236}">
                <a16:creationId xmlns:a16="http://schemas.microsoft.com/office/drawing/2014/main" id="{4577FB3E-38CC-3E44-9D80-78F621759C9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5715" y="2708580"/>
            <a:ext cx="692699" cy="692699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90E398ED-BF79-4D40-B5D5-979F6EF07747}"/>
              </a:ext>
            </a:extLst>
          </p:cNvPr>
          <p:cNvSpPr txBox="1"/>
          <p:nvPr/>
        </p:nvSpPr>
        <p:spPr>
          <a:xfrm>
            <a:off x="10101192" y="6524625"/>
            <a:ext cx="157487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smtClean="0">
                <a:solidFill>
                  <a:srgbClr val="383288"/>
                </a:solidFill>
              </a:rPr>
              <a:t>[</a:t>
            </a:r>
            <a:r>
              <a:rPr lang="ru-RU" sz="800" b="1" smtClean="0">
                <a:solidFill>
                  <a:srgbClr val="383288"/>
                </a:solidFill>
              </a:rPr>
              <a:t>Рабочая концепция</a:t>
            </a:r>
            <a:r>
              <a:rPr lang="en-US" sz="800" b="1" smtClean="0">
                <a:solidFill>
                  <a:srgbClr val="383288"/>
                </a:solidFill>
              </a:rPr>
              <a:t>]</a:t>
            </a:r>
            <a:endParaRPr lang="ru-RU" sz="800" b="1" dirty="0">
              <a:solidFill>
                <a:srgbClr val="383288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90C1297-00AC-414A-B811-4E763B3213C3}"/>
              </a:ext>
            </a:extLst>
          </p:cNvPr>
          <p:cNvSpPr txBox="1"/>
          <p:nvPr/>
        </p:nvSpPr>
        <p:spPr>
          <a:xfrm>
            <a:off x="340054" y="6512515"/>
            <a:ext cx="181259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solidFill>
                  <a:srgbClr val="383288"/>
                </a:solidFill>
              </a:rPr>
              <a:t>[</a:t>
            </a:r>
            <a:r>
              <a:rPr lang="ru-RU" sz="800" b="1" dirty="0">
                <a:solidFill>
                  <a:srgbClr val="383288"/>
                </a:solidFill>
              </a:rPr>
              <a:t>Краткое название</a:t>
            </a:r>
            <a:r>
              <a:rPr lang="en-US" sz="800" b="1" dirty="0">
                <a:solidFill>
                  <a:srgbClr val="383288"/>
                </a:solidFill>
              </a:rPr>
              <a:t>]</a:t>
            </a:r>
            <a:endParaRPr lang="ru-RU" sz="800" b="1" dirty="0">
              <a:solidFill>
                <a:srgbClr val="383288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6506F3E-4A74-A849-B5E9-84F3249CC2AA}"/>
              </a:ext>
            </a:extLst>
          </p:cNvPr>
          <p:cNvSpPr txBox="1"/>
          <p:nvPr/>
        </p:nvSpPr>
        <p:spPr>
          <a:xfrm>
            <a:off x="5401722" y="6512515"/>
            <a:ext cx="156000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800" b="1" dirty="0">
                <a:solidFill>
                  <a:srgbClr val="38D4D6"/>
                </a:solidFill>
              </a:rPr>
              <a:t>НАПРАВЛЕНИЕ НЕЙРО</a:t>
            </a:r>
          </a:p>
        </p:txBody>
      </p:sp>
    </p:spTree>
    <p:extLst>
      <p:ext uri="{BB962C8B-B14F-4D97-AF65-F5344CB8AC3E}">
        <p14:creationId xmlns:p14="http://schemas.microsoft.com/office/powerpoint/2010/main" val="1309393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с двумя усеченными противолежащими углами 1"/>
          <p:cNvSpPr/>
          <p:nvPr/>
        </p:nvSpPr>
        <p:spPr>
          <a:xfrm flipV="1">
            <a:off x="173736" y="1330428"/>
            <a:ext cx="12018264" cy="4407410"/>
          </a:xfrm>
          <a:prstGeom prst="snip2DiagRect">
            <a:avLst>
              <a:gd name="adj1" fmla="val 0"/>
              <a:gd name="adj2" fmla="val 13352"/>
            </a:avLst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TextBox 9"/>
          <p:cNvSpPr txBox="1"/>
          <p:nvPr/>
        </p:nvSpPr>
        <p:spPr>
          <a:xfrm>
            <a:off x="663702" y="280897"/>
            <a:ext cx="10775010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383288"/>
                </a:solidFill>
              </a:rPr>
              <a:t>[</a:t>
            </a:r>
            <a:r>
              <a:rPr lang="ru-RU" sz="3600" b="1" dirty="0">
                <a:solidFill>
                  <a:srgbClr val="383288"/>
                </a:solidFill>
              </a:rPr>
              <a:t>Постановка задачи</a:t>
            </a:r>
            <a:r>
              <a:rPr lang="en-US" sz="3600" b="1" dirty="0">
                <a:solidFill>
                  <a:srgbClr val="383288"/>
                </a:solidFill>
              </a:rPr>
              <a:t>]</a:t>
            </a:r>
            <a:endParaRPr lang="ru-RU" sz="3600" b="1" dirty="0">
              <a:solidFill>
                <a:srgbClr val="383288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16557" y="1644779"/>
            <a:ext cx="11273155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ru-RU" sz="2800" b="1" dirty="0">
                <a:solidFill>
                  <a:srgbClr val="383288"/>
                </a:solidFill>
              </a:rPr>
              <a:t>Дано: </a:t>
            </a:r>
          </a:p>
          <a:p>
            <a:pPr lvl="0"/>
            <a:r>
              <a:rPr lang="ru-RU" sz="1600" dirty="0"/>
              <a:t>Множество объектов </a:t>
            </a:r>
            <a:r>
              <a:rPr lang="en-US" sz="1600" dirty="0"/>
              <a:t>X – </a:t>
            </a:r>
            <a:r>
              <a:rPr lang="ru-RU" sz="1600" dirty="0"/>
              <a:t>это …</a:t>
            </a:r>
          </a:p>
          <a:p>
            <a:pPr lvl="0"/>
            <a:r>
              <a:rPr lang="ru-RU" sz="1600" dirty="0"/>
              <a:t>Множество ответов </a:t>
            </a:r>
            <a:r>
              <a:rPr lang="en-US" sz="1600" dirty="0"/>
              <a:t>Y – </a:t>
            </a:r>
            <a:r>
              <a:rPr lang="ru-RU" sz="1600" dirty="0"/>
              <a:t>это …</a:t>
            </a:r>
          </a:p>
          <a:p>
            <a:pPr lvl="0"/>
            <a:r>
              <a:rPr lang="ru-RU" sz="2800" b="1" dirty="0">
                <a:solidFill>
                  <a:srgbClr val="383288"/>
                </a:solidFill>
              </a:rPr>
              <a:t>Найти: </a:t>
            </a:r>
          </a:p>
          <a:p>
            <a:pPr lvl="0"/>
            <a:r>
              <a:rPr lang="ru-RU" sz="1600" dirty="0"/>
              <a:t>Алгоритм, который выполняет классификацию …</a:t>
            </a:r>
          </a:p>
          <a:p>
            <a:pPr lvl="0"/>
            <a:r>
              <a:rPr lang="ru-RU" sz="2800" b="1" dirty="0">
                <a:solidFill>
                  <a:srgbClr val="383288"/>
                </a:solidFill>
              </a:rPr>
              <a:t>Критерий:</a:t>
            </a:r>
          </a:p>
          <a:p>
            <a:pPr lvl="0"/>
            <a:r>
              <a:rPr lang="ru-RU" sz="1600" dirty="0"/>
              <a:t>Алгоритм выполняет … с точностью …</a:t>
            </a:r>
          </a:p>
        </p:txBody>
      </p:sp>
      <p:sp>
        <p:nvSpPr>
          <p:cNvPr id="14" name="Прямоугольный треугольник 13"/>
          <p:cNvSpPr/>
          <p:nvPr/>
        </p:nvSpPr>
        <p:spPr>
          <a:xfrm rot="13510417">
            <a:off x="-438329" y="180498"/>
            <a:ext cx="873898" cy="873898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ый треугольник 14"/>
          <p:cNvSpPr/>
          <p:nvPr/>
        </p:nvSpPr>
        <p:spPr>
          <a:xfrm rot="2713161">
            <a:off x="11946107" y="6134323"/>
            <a:ext cx="491786" cy="491786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рямоугольник с двумя усеченными противолежащими углами 15"/>
          <p:cNvSpPr/>
          <p:nvPr/>
        </p:nvSpPr>
        <p:spPr>
          <a:xfrm flipH="1" flipV="1">
            <a:off x="298704" y="1235384"/>
            <a:ext cx="11734800" cy="4407410"/>
          </a:xfrm>
          <a:prstGeom prst="snip2DiagRect">
            <a:avLst>
              <a:gd name="adj1" fmla="val 0"/>
              <a:gd name="adj2" fmla="val 13352"/>
            </a:avLst>
          </a:prstGeom>
          <a:noFill/>
          <a:ln w="28575">
            <a:solidFill>
              <a:srgbClr val="383288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162843">
            <a:off x="10634004" y="1425175"/>
            <a:ext cx="945610" cy="945610"/>
          </a:xfrm>
          <a:prstGeom prst="rect">
            <a:avLst/>
          </a:prstGeom>
        </p:spPr>
      </p:pic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278CB285-30D2-0C4F-BFA0-5298ABD96365}"/>
              </a:ext>
            </a:extLst>
          </p:cNvPr>
          <p:cNvCxnSpPr>
            <a:cxnSpLocks/>
          </p:cNvCxnSpPr>
          <p:nvPr/>
        </p:nvCxnSpPr>
        <p:spPr>
          <a:xfrm>
            <a:off x="-8796" y="6377178"/>
            <a:ext cx="9699180" cy="0"/>
          </a:xfrm>
          <a:prstGeom prst="line">
            <a:avLst/>
          </a:prstGeom>
          <a:ln w="38100"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E569F703-4013-764D-BBD4-AB16FEED2B17}"/>
              </a:ext>
            </a:extLst>
          </p:cNvPr>
          <p:cNvSpPr/>
          <p:nvPr/>
        </p:nvSpPr>
        <p:spPr>
          <a:xfrm>
            <a:off x="7723434" y="5059569"/>
            <a:ext cx="743055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i="1" dirty="0">
                <a:solidFill>
                  <a:srgbClr val="00B050"/>
                </a:solidFill>
              </a:rPr>
              <a:t>Формальная постановка задачи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0E398ED-BF79-4D40-B5D5-979F6EF07747}"/>
              </a:ext>
            </a:extLst>
          </p:cNvPr>
          <p:cNvSpPr txBox="1"/>
          <p:nvPr/>
        </p:nvSpPr>
        <p:spPr>
          <a:xfrm>
            <a:off x="10210800" y="6524625"/>
            <a:ext cx="146526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smtClean="0">
                <a:solidFill>
                  <a:srgbClr val="383288"/>
                </a:solidFill>
              </a:rPr>
              <a:t>[</a:t>
            </a:r>
            <a:r>
              <a:rPr lang="ru-RU" sz="800" b="1" smtClean="0">
                <a:solidFill>
                  <a:srgbClr val="383288"/>
                </a:solidFill>
              </a:rPr>
              <a:t>Постановка задачи</a:t>
            </a:r>
            <a:r>
              <a:rPr lang="en-US" sz="800" b="1" smtClean="0">
                <a:solidFill>
                  <a:srgbClr val="383288"/>
                </a:solidFill>
              </a:rPr>
              <a:t>]</a:t>
            </a:r>
            <a:endParaRPr lang="ru-RU" sz="800" b="1" dirty="0">
              <a:solidFill>
                <a:srgbClr val="383288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90C1297-00AC-414A-B811-4E763B3213C3}"/>
              </a:ext>
            </a:extLst>
          </p:cNvPr>
          <p:cNvSpPr txBox="1"/>
          <p:nvPr/>
        </p:nvSpPr>
        <p:spPr>
          <a:xfrm>
            <a:off x="340054" y="6512515"/>
            <a:ext cx="181259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solidFill>
                  <a:srgbClr val="383288"/>
                </a:solidFill>
              </a:rPr>
              <a:t>[</a:t>
            </a:r>
            <a:r>
              <a:rPr lang="ru-RU" sz="800" b="1" dirty="0">
                <a:solidFill>
                  <a:srgbClr val="383288"/>
                </a:solidFill>
              </a:rPr>
              <a:t>Краткое название</a:t>
            </a:r>
            <a:r>
              <a:rPr lang="en-US" sz="800" b="1" dirty="0">
                <a:solidFill>
                  <a:srgbClr val="383288"/>
                </a:solidFill>
              </a:rPr>
              <a:t>]</a:t>
            </a:r>
            <a:endParaRPr lang="ru-RU" sz="800" b="1" dirty="0">
              <a:solidFill>
                <a:srgbClr val="383288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6506F3E-4A74-A849-B5E9-84F3249CC2AA}"/>
              </a:ext>
            </a:extLst>
          </p:cNvPr>
          <p:cNvSpPr txBox="1"/>
          <p:nvPr/>
        </p:nvSpPr>
        <p:spPr>
          <a:xfrm>
            <a:off x="5401722" y="6512515"/>
            <a:ext cx="156000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800" b="1" dirty="0">
                <a:solidFill>
                  <a:srgbClr val="38D4D6"/>
                </a:solidFill>
              </a:rPr>
              <a:t>НАПРАВЛЕНИЕ НЕЙРО</a:t>
            </a:r>
          </a:p>
        </p:txBody>
      </p:sp>
    </p:spTree>
    <p:extLst>
      <p:ext uri="{BB962C8B-B14F-4D97-AF65-F5344CB8AC3E}">
        <p14:creationId xmlns:p14="http://schemas.microsoft.com/office/powerpoint/2010/main" val="42927399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ый треугольник 4"/>
          <p:cNvSpPr/>
          <p:nvPr/>
        </p:nvSpPr>
        <p:spPr>
          <a:xfrm rot="13507742">
            <a:off x="-1978527" y="1432080"/>
            <a:ext cx="3938390" cy="393839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7030A0"/>
              </a:solidFill>
            </a:endParaRPr>
          </a:p>
        </p:txBody>
      </p:sp>
      <p:sp>
        <p:nvSpPr>
          <p:cNvPr id="9" name="Прямоугольный треугольник 8"/>
          <p:cNvSpPr/>
          <p:nvPr/>
        </p:nvSpPr>
        <p:spPr>
          <a:xfrm rot="13507742">
            <a:off x="816009" y="5306117"/>
            <a:ext cx="855702" cy="855702"/>
          </a:xfrm>
          <a:prstGeom prst="rtTriangl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9D24300-53DB-BE4B-8438-36BDC8AD164A}"/>
              </a:ext>
            </a:extLst>
          </p:cNvPr>
          <p:cNvSpPr txBox="1"/>
          <p:nvPr/>
        </p:nvSpPr>
        <p:spPr>
          <a:xfrm>
            <a:off x="6053884" y="133515"/>
            <a:ext cx="67787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383288"/>
                </a:solidFill>
              </a:rPr>
              <a:t>[</a:t>
            </a:r>
            <a:r>
              <a:rPr lang="ru-RU" sz="3600" b="1" dirty="0">
                <a:solidFill>
                  <a:srgbClr val="383288"/>
                </a:solidFill>
              </a:rPr>
              <a:t>Описание методов</a:t>
            </a:r>
            <a:r>
              <a:rPr lang="en-US" sz="3600" b="1" dirty="0">
                <a:solidFill>
                  <a:srgbClr val="383288"/>
                </a:solidFill>
              </a:rPr>
              <a:t>]</a:t>
            </a:r>
            <a:endParaRPr lang="ru-RU" sz="3600" b="1" dirty="0">
              <a:solidFill>
                <a:srgbClr val="383288"/>
              </a:solidFill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6BB36C12-2A4A-2E41-9872-8B1E6D42F47A}"/>
              </a:ext>
            </a:extLst>
          </p:cNvPr>
          <p:cNvSpPr/>
          <p:nvPr/>
        </p:nvSpPr>
        <p:spPr>
          <a:xfrm>
            <a:off x="135365" y="330567"/>
            <a:ext cx="743055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i="1" dirty="0">
                <a:solidFill>
                  <a:srgbClr val="00B050"/>
                </a:solidFill>
              </a:rPr>
              <a:t>Описание использованных методов, например  </a:t>
            </a:r>
            <a:r>
              <a:rPr lang="en-US" sz="1600" i="1" dirty="0">
                <a:solidFill>
                  <a:srgbClr val="00B050"/>
                </a:solidFill>
              </a:rPr>
              <a:t>KNN</a:t>
            </a:r>
            <a:endParaRPr lang="ru-RU" sz="1600" i="1" dirty="0">
              <a:solidFill>
                <a:srgbClr val="00B050"/>
              </a:solidFill>
            </a:endParaRPr>
          </a:p>
        </p:txBody>
      </p:sp>
      <p:sp>
        <p:nvSpPr>
          <p:cNvPr id="15" name="Прямоугольник с двумя усеченными противолежащими углами 1">
            <a:extLst>
              <a:ext uri="{FF2B5EF4-FFF2-40B4-BE49-F238E27FC236}">
                <a16:creationId xmlns:a16="http://schemas.microsoft.com/office/drawing/2014/main" id="{76B38953-BE9E-B54D-AEBC-A9DAEBBC696C}"/>
              </a:ext>
            </a:extLst>
          </p:cNvPr>
          <p:cNvSpPr/>
          <p:nvPr/>
        </p:nvSpPr>
        <p:spPr>
          <a:xfrm flipV="1">
            <a:off x="649073" y="818187"/>
            <a:ext cx="5199888" cy="2626894"/>
          </a:xfrm>
          <a:prstGeom prst="snip2Diag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рямоугольник с двумя усеченными противолежащими углами 17">
            <a:extLst>
              <a:ext uri="{FF2B5EF4-FFF2-40B4-BE49-F238E27FC236}">
                <a16:creationId xmlns:a16="http://schemas.microsoft.com/office/drawing/2014/main" id="{2DF14566-E25E-2F43-9A0F-2618B970EBED}"/>
              </a:ext>
            </a:extLst>
          </p:cNvPr>
          <p:cNvSpPr/>
          <p:nvPr/>
        </p:nvSpPr>
        <p:spPr>
          <a:xfrm flipH="1" flipV="1">
            <a:off x="552277" y="3886400"/>
            <a:ext cx="5199888" cy="2626894"/>
          </a:xfrm>
          <a:prstGeom prst="snip2Diag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с двумя усеченными противолежащими углами 18">
            <a:extLst>
              <a:ext uri="{FF2B5EF4-FFF2-40B4-BE49-F238E27FC236}">
                <a16:creationId xmlns:a16="http://schemas.microsoft.com/office/drawing/2014/main" id="{468A42C5-0A6D-F048-AA83-241D4C1F0ED9}"/>
              </a:ext>
            </a:extLst>
          </p:cNvPr>
          <p:cNvSpPr/>
          <p:nvPr/>
        </p:nvSpPr>
        <p:spPr>
          <a:xfrm flipH="1" flipV="1">
            <a:off x="6270114" y="818187"/>
            <a:ext cx="5199888" cy="2626894"/>
          </a:xfrm>
          <a:prstGeom prst="snip2Diag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Прямоугольник с двумя усеченными противолежащими углами 19">
            <a:extLst>
              <a:ext uri="{FF2B5EF4-FFF2-40B4-BE49-F238E27FC236}">
                <a16:creationId xmlns:a16="http://schemas.microsoft.com/office/drawing/2014/main" id="{3BB1E729-8B4D-8244-8985-D6D4B6219F08}"/>
              </a:ext>
            </a:extLst>
          </p:cNvPr>
          <p:cNvSpPr/>
          <p:nvPr/>
        </p:nvSpPr>
        <p:spPr>
          <a:xfrm flipV="1">
            <a:off x="6270114" y="3886400"/>
            <a:ext cx="5199888" cy="2626894"/>
          </a:xfrm>
          <a:prstGeom prst="snip2Diag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50EA78A-53BF-DB41-A05A-7B823A48E4E8}"/>
              </a:ext>
            </a:extLst>
          </p:cNvPr>
          <p:cNvSpPr txBox="1"/>
          <p:nvPr/>
        </p:nvSpPr>
        <p:spPr>
          <a:xfrm>
            <a:off x="1033272" y="5030570"/>
            <a:ext cx="41970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dirty="0">
                <a:latin typeface="+mj-lt"/>
              </a:rPr>
              <a:t>Описание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9415AA9-D113-1E42-85B2-32B48744BB36}"/>
              </a:ext>
            </a:extLst>
          </p:cNvPr>
          <p:cNvSpPr txBox="1"/>
          <p:nvPr/>
        </p:nvSpPr>
        <p:spPr>
          <a:xfrm>
            <a:off x="1188720" y="1962357"/>
            <a:ext cx="41879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dirty="0">
                <a:latin typeface="+mj-lt"/>
              </a:rPr>
              <a:t>Описание</a:t>
            </a:r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619B5D9E-6190-384F-AC80-01C6C6C194B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7387" y="3318714"/>
            <a:ext cx="744301" cy="744301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9583114F-3655-6A4F-8445-4E0BA4F04A41}"/>
              </a:ext>
            </a:extLst>
          </p:cNvPr>
          <p:cNvSpPr txBox="1"/>
          <p:nvPr/>
        </p:nvSpPr>
        <p:spPr>
          <a:xfrm>
            <a:off x="6885432" y="5030570"/>
            <a:ext cx="40416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dirty="0">
                <a:latin typeface="+mj-lt"/>
              </a:rPr>
              <a:t>Описание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ACFEA19-E0ED-3D4E-B540-635C86DEE3FC}"/>
              </a:ext>
            </a:extLst>
          </p:cNvPr>
          <p:cNvSpPr txBox="1"/>
          <p:nvPr/>
        </p:nvSpPr>
        <p:spPr>
          <a:xfrm>
            <a:off x="6720840" y="1962357"/>
            <a:ext cx="42062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dirty="0">
                <a:latin typeface="+mj-lt"/>
              </a:rPr>
              <a:t>Описание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0E398ED-BF79-4D40-B5D5-979F6EF07747}"/>
              </a:ext>
            </a:extLst>
          </p:cNvPr>
          <p:cNvSpPr txBox="1"/>
          <p:nvPr/>
        </p:nvSpPr>
        <p:spPr>
          <a:xfrm>
            <a:off x="10210800" y="6524625"/>
            <a:ext cx="146526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smtClean="0">
                <a:solidFill>
                  <a:srgbClr val="383288"/>
                </a:solidFill>
              </a:rPr>
              <a:t>[</a:t>
            </a:r>
            <a:r>
              <a:rPr lang="ru-RU" sz="800" b="1" smtClean="0">
                <a:solidFill>
                  <a:srgbClr val="383288"/>
                </a:solidFill>
              </a:rPr>
              <a:t>Описание  методов</a:t>
            </a:r>
            <a:r>
              <a:rPr lang="en-US" sz="800" b="1" smtClean="0">
                <a:solidFill>
                  <a:srgbClr val="383288"/>
                </a:solidFill>
              </a:rPr>
              <a:t>]</a:t>
            </a:r>
            <a:endParaRPr lang="ru-RU" sz="800" b="1" dirty="0">
              <a:solidFill>
                <a:srgbClr val="383288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90C1297-00AC-414A-B811-4E763B3213C3}"/>
              </a:ext>
            </a:extLst>
          </p:cNvPr>
          <p:cNvSpPr txBox="1"/>
          <p:nvPr/>
        </p:nvSpPr>
        <p:spPr>
          <a:xfrm>
            <a:off x="340054" y="6512515"/>
            <a:ext cx="181259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solidFill>
                  <a:srgbClr val="383288"/>
                </a:solidFill>
              </a:rPr>
              <a:t>[</a:t>
            </a:r>
            <a:r>
              <a:rPr lang="ru-RU" sz="800" b="1" dirty="0">
                <a:solidFill>
                  <a:srgbClr val="383288"/>
                </a:solidFill>
              </a:rPr>
              <a:t>Краткое название</a:t>
            </a:r>
            <a:r>
              <a:rPr lang="en-US" sz="800" b="1" dirty="0">
                <a:solidFill>
                  <a:srgbClr val="383288"/>
                </a:solidFill>
              </a:rPr>
              <a:t>]</a:t>
            </a:r>
            <a:endParaRPr lang="ru-RU" sz="800" b="1" dirty="0">
              <a:solidFill>
                <a:srgbClr val="383288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6506F3E-4A74-A849-B5E9-84F3249CC2AA}"/>
              </a:ext>
            </a:extLst>
          </p:cNvPr>
          <p:cNvSpPr txBox="1"/>
          <p:nvPr/>
        </p:nvSpPr>
        <p:spPr>
          <a:xfrm>
            <a:off x="5401722" y="6512515"/>
            <a:ext cx="156000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800" b="1" dirty="0">
                <a:solidFill>
                  <a:srgbClr val="38D4D6"/>
                </a:solidFill>
              </a:rPr>
              <a:t>НАПРАВЛЕНИЕ НЕЙРО</a:t>
            </a:r>
          </a:p>
        </p:txBody>
      </p:sp>
    </p:spTree>
    <p:extLst>
      <p:ext uri="{BB962C8B-B14F-4D97-AF65-F5344CB8AC3E}">
        <p14:creationId xmlns:p14="http://schemas.microsoft.com/office/powerpoint/2010/main" val="24948763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1520952" y="280897"/>
            <a:ext cx="107750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383288"/>
                </a:solidFill>
              </a:rPr>
              <a:t>[</a:t>
            </a:r>
            <a:r>
              <a:rPr lang="ru-RU" sz="3600" b="1" dirty="0">
                <a:solidFill>
                  <a:srgbClr val="383288"/>
                </a:solidFill>
              </a:rPr>
              <a:t>Сравнение методов</a:t>
            </a:r>
            <a:r>
              <a:rPr lang="en-US" sz="3600" b="1" dirty="0">
                <a:solidFill>
                  <a:srgbClr val="383288"/>
                </a:solidFill>
              </a:rPr>
              <a:t>]</a:t>
            </a:r>
            <a:endParaRPr lang="ru-RU" sz="3600" b="1" dirty="0">
              <a:solidFill>
                <a:srgbClr val="383288"/>
              </a:solidFill>
            </a:endParaRPr>
          </a:p>
        </p:txBody>
      </p:sp>
      <p:sp>
        <p:nvSpPr>
          <p:cNvPr id="14" name="Прямоугольный треугольник 13"/>
          <p:cNvSpPr/>
          <p:nvPr/>
        </p:nvSpPr>
        <p:spPr>
          <a:xfrm rot="13510417">
            <a:off x="-438329" y="180498"/>
            <a:ext cx="873898" cy="873898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ый треугольник 14"/>
          <p:cNvSpPr/>
          <p:nvPr/>
        </p:nvSpPr>
        <p:spPr>
          <a:xfrm rot="2713161">
            <a:off x="11946107" y="6134323"/>
            <a:ext cx="491786" cy="491786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5033786"/>
              </p:ext>
            </p:extLst>
          </p:nvPr>
        </p:nvGraphicFramePr>
        <p:xfrm>
          <a:off x="616556" y="1214302"/>
          <a:ext cx="10603893" cy="4656156"/>
        </p:xfrm>
        <a:graphic>
          <a:graphicData uri="http://schemas.openxmlformats.org/drawingml/2006/table">
            <a:tbl>
              <a:tblPr firstRow="1">
                <a:tableStyleId>{08FB837D-C827-4EFA-A057-4D05807E0F7C}</a:tableStyleId>
              </a:tblPr>
              <a:tblGrid>
                <a:gridCol w="62985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8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049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95448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u="none" strike="noStrike" dirty="0">
                          <a:effectLst/>
                        </a:rPr>
                        <a:t>Метод</a:t>
                      </a:r>
                      <a:r>
                        <a:rPr lang="en-US" sz="1400" u="none" strike="noStrike" dirty="0">
                          <a:effectLst/>
                        </a:rPr>
                        <a:t> (</a:t>
                      </a:r>
                      <a:r>
                        <a:rPr lang="ru-RU" sz="1400" u="none" strike="noStrike" dirty="0">
                          <a:effectLst/>
                        </a:rPr>
                        <a:t>краткое описание</a:t>
                      </a:r>
                      <a:r>
                        <a:rPr lang="en-US" sz="1400" u="none" strike="noStrike" dirty="0">
                          <a:effectLst/>
                        </a:rPr>
                        <a:t>)</a:t>
                      </a:r>
                      <a:endParaRPr lang="ru-RU" sz="1400" dirty="0">
                        <a:effectLst/>
                        <a:latin typeface="+mn-lt"/>
                      </a:endParaRPr>
                    </a:p>
                  </a:txBody>
                  <a:tcPr marL="76200" marR="76200" marT="76200" marB="76200">
                    <a:solidFill>
                      <a:srgbClr val="6460A3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u="none" strike="noStrike" dirty="0">
                          <a:effectLst/>
                        </a:rPr>
                        <a:t>Метрика качества 1</a:t>
                      </a:r>
                      <a:endParaRPr lang="ru-RU" sz="1400" dirty="0">
                        <a:effectLst/>
                        <a:latin typeface="+mn-lt"/>
                      </a:endParaRPr>
                    </a:p>
                  </a:txBody>
                  <a:tcPr marL="76200" marR="76200" marT="76200" marB="76200">
                    <a:solidFill>
                      <a:srgbClr val="6460A3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u="none" strike="noStrike" dirty="0">
                          <a:effectLst/>
                        </a:rPr>
                        <a:t>Метрика качества 2</a:t>
                      </a:r>
                      <a:endParaRPr lang="ru-RU" sz="1400" dirty="0">
                        <a:effectLst/>
                        <a:latin typeface="+mn-lt"/>
                      </a:endParaRPr>
                    </a:p>
                  </a:txBody>
                  <a:tcPr marL="76200" marR="76200" marT="76200" marB="76200">
                    <a:solidFill>
                      <a:srgbClr val="6460A3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u="none" strike="noStrike" dirty="0">
                          <a:effectLst/>
                        </a:rPr>
                        <a:t>Метрика качества 3</a:t>
                      </a:r>
                      <a:endParaRPr lang="ru-RU" sz="1400" dirty="0">
                        <a:effectLst/>
                        <a:latin typeface="+mn-lt"/>
                      </a:endParaRPr>
                    </a:p>
                  </a:txBody>
                  <a:tcPr marL="76200" marR="76200" marT="76200" marB="76200">
                    <a:solidFill>
                      <a:srgbClr val="6460A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2734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u="none" strike="noStrike" dirty="0">
                          <a:effectLst/>
                        </a:rPr>
                        <a:t>KNN</a:t>
                      </a:r>
                      <a:endParaRPr lang="ru-RU" sz="1400" b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6200" marR="76200" marT="76200" marB="762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400" dirty="0">
                        <a:solidFill>
                          <a:srgbClr val="383288"/>
                        </a:solidFill>
                        <a:effectLst/>
                        <a:latin typeface="+mn-lt"/>
                      </a:endParaRPr>
                    </a:p>
                  </a:txBody>
                  <a:tcPr marL="76200" marR="76200" marT="76200" marB="762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400" dirty="0">
                        <a:solidFill>
                          <a:srgbClr val="383288"/>
                        </a:solidFill>
                        <a:effectLst/>
                        <a:latin typeface="+mn-lt"/>
                      </a:endParaRPr>
                    </a:p>
                  </a:txBody>
                  <a:tcPr marL="76200" marR="76200" marT="76200" marB="762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400" dirty="0">
                        <a:solidFill>
                          <a:srgbClr val="383288"/>
                        </a:solidFill>
                        <a:effectLst/>
                        <a:latin typeface="+mn-lt"/>
                      </a:endParaRPr>
                    </a:p>
                  </a:txBody>
                  <a:tcPr marL="76200" marR="76200" marT="76200" marB="7620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2734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u="none" strike="noStrike" dirty="0">
                          <a:effectLst/>
                        </a:rPr>
                        <a:t>KNN+</a:t>
                      </a:r>
                      <a:r>
                        <a:rPr lang="ru-RU" sz="1400" u="none" strike="noStrike" dirty="0" err="1">
                          <a:effectLst/>
                        </a:rPr>
                        <a:t>бустинг</a:t>
                      </a:r>
                      <a:endParaRPr lang="ru-RU" sz="1400" b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6200" marR="76200" marT="76200" marB="762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400" dirty="0">
                        <a:solidFill>
                          <a:srgbClr val="383288"/>
                        </a:solidFill>
                        <a:effectLst/>
                        <a:latin typeface="+mn-lt"/>
                      </a:endParaRPr>
                    </a:p>
                  </a:txBody>
                  <a:tcPr marL="76200" marR="76200" marT="76200" marB="762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400" dirty="0">
                        <a:solidFill>
                          <a:srgbClr val="383288"/>
                        </a:solidFill>
                        <a:effectLst/>
                        <a:latin typeface="+mn-lt"/>
                      </a:endParaRPr>
                    </a:p>
                  </a:txBody>
                  <a:tcPr marL="76200" marR="76200" marT="76200" marB="762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400" dirty="0">
                        <a:solidFill>
                          <a:srgbClr val="383288"/>
                        </a:solidFill>
                        <a:effectLst/>
                        <a:latin typeface="+mn-lt"/>
                      </a:endParaRPr>
                    </a:p>
                  </a:txBody>
                  <a:tcPr marL="76200" marR="76200" marT="76200" marB="7620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7038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u="none" strike="noStrike" dirty="0">
                          <a:effectLst/>
                        </a:rPr>
                        <a:t>Метод решающих деревьев</a:t>
                      </a:r>
                      <a:endParaRPr lang="ru-RU" sz="1400" b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6200" marR="76200" marT="76200" marB="762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400" dirty="0">
                        <a:solidFill>
                          <a:srgbClr val="383288"/>
                        </a:solidFill>
                        <a:effectLst/>
                        <a:latin typeface="+mn-lt"/>
                      </a:endParaRPr>
                    </a:p>
                  </a:txBody>
                  <a:tcPr marL="76200" marR="76200" marT="76200" marB="762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400" dirty="0">
                        <a:solidFill>
                          <a:srgbClr val="383288"/>
                        </a:solidFill>
                        <a:effectLst/>
                        <a:latin typeface="+mn-lt"/>
                      </a:endParaRPr>
                    </a:p>
                  </a:txBody>
                  <a:tcPr marL="76200" marR="76200" marT="76200" marB="762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400" dirty="0">
                        <a:solidFill>
                          <a:srgbClr val="383288"/>
                        </a:solidFill>
                        <a:effectLst/>
                        <a:latin typeface="+mn-lt"/>
                      </a:endParaRPr>
                    </a:p>
                  </a:txBody>
                  <a:tcPr marL="76200" marR="76200" marT="76200" marB="7620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2734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u="none" strike="noStrike" dirty="0">
                          <a:effectLst/>
                        </a:rPr>
                        <a:t>CNN</a:t>
                      </a:r>
                      <a:endParaRPr lang="ru-RU" sz="1400" b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6200" marR="76200" marT="76200" marB="762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400" dirty="0">
                        <a:solidFill>
                          <a:srgbClr val="383288"/>
                        </a:solidFill>
                        <a:effectLst/>
                        <a:latin typeface="+mn-lt"/>
                      </a:endParaRPr>
                    </a:p>
                  </a:txBody>
                  <a:tcPr marL="76200" marR="76200" marT="76200" marB="762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400" dirty="0">
                        <a:solidFill>
                          <a:srgbClr val="383288"/>
                        </a:solidFill>
                        <a:effectLst/>
                        <a:latin typeface="+mn-lt"/>
                      </a:endParaRPr>
                    </a:p>
                  </a:txBody>
                  <a:tcPr marL="76200" marR="76200" marT="76200" marB="762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400" dirty="0">
                        <a:solidFill>
                          <a:srgbClr val="383288"/>
                        </a:solidFill>
                        <a:effectLst/>
                        <a:latin typeface="+mn-lt"/>
                      </a:endParaRPr>
                    </a:p>
                  </a:txBody>
                  <a:tcPr marL="76200" marR="76200" marT="76200" marB="7620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2734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u="none" strike="noStrike" dirty="0">
                          <a:effectLst/>
                        </a:rPr>
                        <a:t>RNN</a:t>
                      </a:r>
                      <a:endParaRPr lang="ru-RU" sz="1400" b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6200" marR="76200" marT="76200" marB="762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400" dirty="0">
                        <a:solidFill>
                          <a:srgbClr val="383288"/>
                        </a:solidFill>
                        <a:effectLst/>
                        <a:latin typeface="+mn-lt"/>
                      </a:endParaRPr>
                    </a:p>
                  </a:txBody>
                  <a:tcPr marL="76200" marR="76200" marT="76200" marB="762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400" dirty="0">
                        <a:solidFill>
                          <a:srgbClr val="383288"/>
                        </a:solidFill>
                        <a:effectLst/>
                        <a:latin typeface="+mn-lt"/>
                      </a:endParaRPr>
                    </a:p>
                  </a:txBody>
                  <a:tcPr marL="76200" marR="76200" marT="76200" marB="762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400" dirty="0">
                        <a:solidFill>
                          <a:srgbClr val="383288"/>
                        </a:solidFill>
                        <a:effectLst/>
                        <a:latin typeface="+mn-lt"/>
                      </a:endParaRPr>
                    </a:p>
                  </a:txBody>
                  <a:tcPr marL="76200" marR="76200" marT="76200" marB="7620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72734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u="none" strike="noStrike" dirty="0">
                          <a:effectLst/>
                        </a:rPr>
                        <a:t>RNN+LSTM</a:t>
                      </a:r>
                      <a:endParaRPr lang="ru-RU" sz="1400" b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6200" marR="76200" marT="76200" marB="762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400" dirty="0">
                        <a:solidFill>
                          <a:srgbClr val="383288"/>
                        </a:solidFill>
                        <a:effectLst/>
                        <a:latin typeface="+mn-lt"/>
                      </a:endParaRPr>
                    </a:p>
                  </a:txBody>
                  <a:tcPr marL="76200" marR="76200" marT="76200" marB="762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400" dirty="0">
                        <a:solidFill>
                          <a:srgbClr val="383288"/>
                        </a:solidFill>
                        <a:effectLst/>
                        <a:latin typeface="+mn-lt"/>
                      </a:endParaRPr>
                    </a:p>
                  </a:txBody>
                  <a:tcPr marL="76200" marR="76200" marT="76200" marB="762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400" dirty="0">
                        <a:solidFill>
                          <a:srgbClr val="383288"/>
                        </a:solidFill>
                        <a:effectLst/>
                        <a:latin typeface="+mn-lt"/>
                      </a:endParaRPr>
                    </a:p>
                  </a:txBody>
                  <a:tcPr marL="76200" marR="76200" marT="76200" marB="7620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2359152" y="4062232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C5779AEC-FE85-8A4D-A9C8-477BBA2C1013}"/>
              </a:ext>
            </a:extLst>
          </p:cNvPr>
          <p:cNvCxnSpPr>
            <a:cxnSpLocks/>
          </p:cNvCxnSpPr>
          <p:nvPr/>
        </p:nvCxnSpPr>
        <p:spPr>
          <a:xfrm>
            <a:off x="-8796" y="6377178"/>
            <a:ext cx="9699180" cy="0"/>
          </a:xfrm>
          <a:prstGeom prst="line">
            <a:avLst/>
          </a:prstGeom>
          <a:ln w="38100"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3CA9D042-7495-B146-AA28-DB33FC949888}"/>
              </a:ext>
            </a:extLst>
          </p:cNvPr>
          <p:cNvSpPr/>
          <p:nvPr/>
        </p:nvSpPr>
        <p:spPr>
          <a:xfrm>
            <a:off x="7469615" y="165394"/>
            <a:ext cx="743055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i="1" dirty="0">
                <a:solidFill>
                  <a:srgbClr val="00B050"/>
                </a:solidFill>
              </a:rPr>
              <a:t>Таблица сравнения методов и их </a:t>
            </a:r>
          </a:p>
          <a:p>
            <a:r>
              <a:rPr lang="ru-RU" sz="1600" i="1" dirty="0">
                <a:solidFill>
                  <a:srgbClr val="00B050"/>
                </a:solidFill>
              </a:rPr>
              <a:t>модификаций по различным метрикам: </a:t>
            </a:r>
          </a:p>
          <a:p>
            <a:r>
              <a:rPr lang="ru-RU" sz="1600" i="1" dirty="0">
                <a:solidFill>
                  <a:srgbClr val="00B050"/>
                </a:solidFill>
              </a:rPr>
              <a:t>точность, полнота, …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1ADD47CA-700A-EC46-8287-C6EB497235D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116" y="319336"/>
            <a:ext cx="759630" cy="75963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90E398ED-BF79-4D40-B5D5-979F6EF07747}"/>
              </a:ext>
            </a:extLst>
          </p:cNvPr>
          <p:cNvSpPr txBox="1"/>
          <p:nvPr/>
        </p:nvSpPr>
        <p:spPr>
          <a:xfrm>
            <a:off x="10210800" y="6524625"/>
            <a:ext cx="146526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smtClean="0">
                <a:solidFill>
                  <a:srgbClr val="383288"/>
                </a:solidFill>
              </a:rPr>
              <a:t>[</a:t>
            </a:r>
            <a:r>
              <a:rPr lang="ru-RU" sz="800" b="1" smtClean="0">
                <a:solidFill>
                  <a:srgbClr val="383288"/>
                </a:solidFill>
              </a:rPr>
              <a:t>Сравнение методов</a:t>
            </a:r>
            <a:r>
              <a:rPr lang="en-US" sz="800" b="1" smtClean="0">
                <a:solidFill>
                  <a:srgbClr val="383288"/>
                </a:solidFill>
              </a:rPr>
              <a:t>]</a:t>
            </a:r>
            <a:endParaRPr lang="ru-RU" sz="800" b="1" dirty="0">
              <a:solidFill>
                <a:srgbClr val="383288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90C1297-00AC-414A-B811-4E763B3213C3}"/>
              </a:ext>
            </a:extLst>
          </p:cNvPr>
          <p:cNvSpPr txBox="1"/>
          <p:nvPr/>
        </p:nvSpPr>
        <p:spPr>
          <a:xfrm>
            <a:off x="340054" y="6512515"/>
            <a:ext cx="181259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solidFill>
                  <a:srgbClr val="383288"/>
                </a:solidFill>
              </a:rPr>
              <a:t>[</a:t>
            </a:r>
            <a:r>
              <a:rPr lang="ru-RU" sz="800" b="1" dirty="0">
                <a:solidFill>
                  <a:srgbClr val="383288"/>
                </a:solidFill>
              </a:rPr>
              <a:t>Краткое название</a:t>
            </a:r>
            <a:r>
              <a:rPr lang="en-US" sz="800" b="1" dirty="0">
                <a:solidFill>
                  <a:srgbClr val="383288"/>
                </a:solidFill>
              </a:rPr>
              <a:t>]</a:t>
            </a:r>
            <a:endParaRPr lang="ru-RU" sz="800" b="1" dirty="0">
              <a:solidFill>
                <a:srgbClr val="383288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6506F3E-4A74-A849-B5E9-84F3249CC2AA}"/>
              </a:ext>
            </a:extLst>
          </p:cNvPr>
          <p:cNvSpPr txBox="1"/>
          <p:nvPr/>
        </p:nvSpPr>
        <p:spPr>
          <a:xfrm>
            <a:off x="5401722" y="6512515"/>
            <a:ext cx="156000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800" b="1" dirty="0">
                <a:solidFill>
                  <a:srgbClr val="38D4D6"/>
                </a:solidFill>
              </a:rPr>
              <a:t>НАПРАВЛЕНИЕ НЕЙРО</a:t>
            </a:r>
          </a:p>
        </p:txBody>
      </p:sp>
    </p:spTree>
    <p:extLst>
      <p:ext uri="{BB962C8B-B14F-4D97-AF65-F5344CB8AC3E}">
        <p14:creationId xmlns:p14="http://schemas.microsoft.com/office/powerpoint/2010/main" val="8002097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5467350" y="280897"/>
            <a:ext cx="59713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383288"/>
                </a:solidFill>
              </a:rPr>
              <a:t>[</a:t>
            </a:r>
            <a:r>
              <a:rPr lang="ru-RU" sz="3600" b="1" dirty="0">
                <a:solidFill>
                  <a:srgbClr val="383288"/>
                </a:solidFill>
              </a:rPr>
              <a:t>Результаты работы</a:t>
            </a:r>
            <a:r>
              <a:rPr lang="en-US" sz="3600" b="1" dirty="0">
                <a:solidFill>
                  <a:srgbClr val="383288"/>
                </a:solidFill>
              </a:rPr>
              <a:t>]</a:t>
            </a:r>
            <a:endParaRPr lang="ru-RU" sz="3600" b="1" dirty="0">
              <a:solidFill>
                <a:srgbClr val="383288"/>
              </a:solidFill>
            </a:endParaRPr>
          </a:p>
        </p:txBody>
      </p:sp>
      <p:sp>
        <p:nvSpPr>
          <p:cNvPr id="14" name="Прямоугольный треугольник 13"/>
          <p:cNvSpPr/>
          <p:nvPr/>
        </p:nvSpPr>
        <p:spPr>
          <a:xfrm rot="13510417">
            <a:off x="-438329" y="180498"/>
            <a:ext cx="873898" cy="873898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ый треугольник 14"/>
          <p:cNvSpPr/>
          <p:nvPr/>
        </p:nvSpPr>
        <p:spPr>
          <a:xfrm rot="2713161">
            <a:off x="11946107" y="6134323"/>
            <a:ext cx="491786" cy="491786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02AD665B-FC6A-2049-8833-472019BBC822}"/>
              </a:ext>
            </a:extLst>
          </p:cNvPr>
          <p:cNvCxnSpPr>
            <a:cxnSpLocks/>
          </p:cNvCxnSpPr>
          <p:nvPr/>
        </p:nvCxnSpPr>
        <p:spPr>
          <a:xfrm>
            <a:off x="-8796" y="6377178"/>
            <a:ext cx="9699180" cy="0"/>
          </a:xfrm>
          <a:prstGeom prst="line">
            <a:avLst/>
          </a:prstGeom>
          <a:ln w="38100"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C8EB5B1-53D2-474B-AD23-9128FEC7CE34}"/>
              </a:ext>
            </a:extLst>
          </p:cNvPr>
          <p:cNvSpPr/>
          <p:nvPr/>
        </p:nvSpPr>
        <p:spPr>
          <a:xfrm>
            <a:off x="1125516" y="1207976"/>
            <a:ext cx="743055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i="1" dirty="0">
                <a:solidFill>
                  <a:srgbClr val="00B050"/>
                </a:solidFill>
              </a:rPr>
              <a:t>Графики, карты и </a:t>
            </a:r>
          </a:p>
          <a:p>
            <a:r>
              <a:rPr lang="ru-RU" sz="1600" i="1" dirty="0">
                <a:solidFill>
                  <a:srgbClr val="00B050"/>
                </a:solidFill>
              </a:rPr>
              <a:t>другие визуализации, </a:t>
            </a:r>
          </a:p>
          <a:p>
            <a:r>
              <a:rPr lang="ru-RU" sz="1600" i="1" dirty="0">
                <a:solidFill>
                  <a:srgbClr val="00B050"/>
                </a:solidFill>
              </a:rPr>
              <a:t>полученные в ходе проекта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ABB46160-3544-0B40-B897-01E6CCA9C3C9}"/>
              </a:ext>
            </a:extLst>
          </p:cNvPr>
          <p:cNvSpPr/>
          <p:nvPr/>
        </p:nvSpPr>
        <p:spPr>
          <a:xfrm>
            <a:off x="1106466" y="4808426"/>
            <a:ext cx="743055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i="1" dirty="0">
                <a:solidFill>
                  <a:srgbClr val="00B050"/>
                </a:solidFill>
              </a:rPr>
              <a:t>Примеры ошибок, полученных при работе алгоритма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4D011D08-0F0A-8F48-AA01-159E69920130}"/>
              </a:ext>
            </a:extLst>
          </p:cNvPr>
          <p:cNvSpPr/>
          <p:nvPr/>
        </p:nvSpPr>
        <p:spPr>
          <a:xfrm>
            <a:off x="1125516" y="5148966"/>
            <a:ext cx="743055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/>
              <a:t>Алгоритм определяет эмоцию грусти и отвращения как эмоцию гнева, например: «Она </a:t>
            </a:r>
            <a:r>
              <a:rPr lang="ru-RU" sz="1600" b="1" dirty="0"/>
              <a:t>несла</a:t>
            </a:r>
            <a:r>
              <a:rPr lang="ru-RU" sz="1600" dirty="0"/>
              <a:t> в руках отвратительные, тревожные желтые </a:t>
            </a:r>
            <a:r>
              <a:rPr lang="ru-RU" sz="1600" b="1" dirty="0"/>
              <a:t>цветы</a:t>
            </a:r>
            <a:r>
              <a:rPr lang="ru-RU" sz="1600" dirty="0"/>
              <a:t>.»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1175E3D-0DA4-0C4A-8A78-B891130ED68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7331" y="1177721"/>
            <a:ext cx="5884069" cy="3628719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28BA4745-A283-4D47-8CF2-9586519EB57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516" y="2243925"/>
            <a:ext cx="770144" cy="770144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90E398ED-BF79-4D40-B5D5-979F6EF07747}"/>
              </a:ext>
            </a:extLst>
          </p:cNvPr>
          <p:cNvSpPr txBox="1"/>
          <p:nvPr/>
        </p:nvSpPr>
        <p:spPr>
          <a:xfrm>
            <a:off x="10210800" y="6524625"/>
            <a:ext cx="146526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smtClean="0">
                <a:solidFill>
                  <a:srgbClr val="383288"/>
                </a:solidFill>
              </a:rPr>
              <a:t>[</a:t>
            </a:r>
            <a:r>
              <a:rPr lang="ru-RU" sz="800" b="1" smtClean="0">
                <a:solidFill>
                  <a:srgbClr val="383288"/>
                </a:solidFill>
              </a:rPr>
              <a:t>Результаты работы</a:t>
            </a:r>
            <a:r>
              <a:rPr lang="en-US" sz="800" b="1" smtClean="0">
                <a:solidFill>
                  <a:srgbClr val="383288"/>
                </a:solidFill>
              </a:rPr>
              <a:t>]</a:t>
            </a:r>
            <a:endParaRPr lang="ru-RU" sz="800" b="1" dirty="0">
              <a:solidFill>
                <a:srgbClr val="383288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90C1297-00AC-414A-B811-4E763B3213C3}"/>
              </a:ext>
            </a:extLst>
          </p:cNvPr>
          <p:cNvSpPr txBox="1"/>
          <p:nvPr/>
        </p:nvSpPr>
        <p:spPr>
          <a:xfrm>
            <a:off x="340054" y="6512515"/>
            <a:ext cx="181259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solidFill>
                  <a:srgbClr val="383288"/>
                </a:solidFill>
              </a:rPr>
              <a:t>[</a:t>
            </a:r>
            <a:r>
              <a:rPr lang="ru-RU" sz="800" b="1" dirty="0">
                <a:solidFill>
                  <a:srgbClr val="383288"/>
                </a:solidFill>
              </a:rPr>
              <a:t>Краткое название</a:t>
            </a:r>
            <a:r>
              <a:rPr lang="en-US" sz="800" b="1" dirty="0">
                <a:solidFill>
                  <a:srgbClr val="383288"/>
                </a:solidFill>
              </a:rPr>
              <a:t>]</a:t>
            </a:r>
            <a:endParaRPr lang="ru-RU" sz="800" b="1" dirty="0">
              <a:solidFill>
                <a:srgbClr val="383288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6506F3E-4A74-A849-B5E9-84F3249CC2AA}"/>
              </a:ext>
            </a:extLst>
          </p:cNvPr>
          <p:cNvSpPr txBox="1"/>
          <p:nvPr/>
        </p:nvSpPr>
        <p:spPr>
          <a:xfrm>
            <a:off x="5401722" y="6512515"/>
            <a:ext cx="156000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800" b="1" dirty="0">
                <a:solidFill>
                  <a:srgbClr val="38D4D6"/>
                </a:solidFill>
              </a:rPr>
              <a:t>НАПРАВЛЕНИЕ НЕЙРО</a:t>
            </a:r>
          </a:p>
        </p:txBody>
      </p:sp>
    </p:spTree>
    <p:extLst>
      <p:ext uri="{BB962C8B-B14F-4D97-AF65-F5344CB8AC3E}">
        <p14:creationId xmlns:p14="http://schemas.microsoft.com/office/powerpoint/2010/main" val="26454131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895350" y="280897"/>
            <a:ext cx="70294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383288"/>
                </a:solidFill>
              </a:rPr>
              <a:t>[</a:t>
            </a:r>
            <a:r>
              <a:rPr lang="ru-RU" sz="3600" b="1" dirty="0">
                <a:solidFill>
                  <a:srgbClr val="383288"/>
                </a:solidFill>
              </a:rPr>
              <a:t>Аналитика результатов</a:t>
            </a:r>
            <a:r>
              <a:rPr lang="en-US" sz="3600" b="1" dirty="0">
                <a:solidFill>
                  <a:srgbClr val="383288"/>
                </a:solidFill>
              </a:rPr>
              <a:t>]</a:t>
            </a:r>
            <a:endParaRPr lang="ru-RU" sz="3600" b="1" dirty="0">
              <a:solidFill>
                <a:srgbClr val="383288"/>
              </a:solidFill>
            </a:endParaRPr>
          </a:p>
        </p:txBody>
      </p:sp>
      <p:sp>
        <p:nvSpPr>
          <p:cNvPr id="14" name="Прямоугольный треугольник 13"/>
          <p:cNvSpPr/>
          <p:nvPr/>
        </p:nvSpPr>
        <p:spPr>
          <a:xfrm rot="13510417">
            <a:off x="-438329" y="180498"/>
            <a:ext cx="873898" cy="873898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ый треугольник 14"/>
          <p:cNvSpPr/>
          <p:nvPr/>
        </p:nvSpPr>
        <p:spPr>
          <a:xfrm rot="2713161">
            <a:off x="11946107" y="6134323"/>
            <a:ext cx="491786" cy="491786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02AD665B-FC6A-2049-8833-472019BBC822}"/>
              </a:ext>
            </a:extLst>
          </p:cNvPr>
          <p:cNvCxnSpPr>
            <a:cxnSpLocks/>
          </p:cNvCxnSpPr>
          <p:nvPr/>
        </p:nvCxnSpPr>
        <p:spPr>
          <a:xfrm>
            <a:off x="-8796" y="6377178"/>
            <a:ext cx="9699180" cy="0"/>
          </a:xfrm>
          <a:prstGeom prst="line">
            <a:avLst/>
          </a:prstGeom>
          <a:ln w="38100"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C8EB5B1-53D2-474B-AD23-9128FEC7CE34}"/>
              </a:ext>
            </a:extLst>
          </p:cNvPr>
          <p:cNvSpPr/>
          <p:nvPr/>
        </p:nvSpPr>
        <p:spPr>
          <a:xfrm>
            <a:off x="1125516" y="1455626"/>
            <a:ext cx="7430556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i="1" dirty="0">
                <a:solidFill>
                  <a:srgbClr val="00B050"/>
                </a:solidFill>
              </a:rPr>
              <a:t>Выводы по проекту</a:t>
            </a:r>
          </a:p>
          <a:p>
            <a:endParaRPr lang="ru-RU" sz="1600" i="1" dirty="0">
              <a:solidFill>
                <a:srgbClr val="00B050"/>
              </a:solidFill>
            </a:endParaRPr>
          </a:p>
          <a:p>
            <a:endParaRPr lang="ru-RU" sz="1600" i="1" dirty="0">
              <a:solidFill>
                <a:srgbClr val="00B050"/>
              </a:solidFill>
            </a:endParaRPr>
          </a:p>
          <a:p>
            <a:endParaRPr lang="ru-RU" sz="1600" i="1" dirty="0">
              <a:solidFill>
                <a:srgbClr val="00B050"/>
              </a:solidFill>
            </a:endParaRPr>
          </a:p>
          <a:p>
            <a:endParaRPr lang="ru-RU" sz="1600" i="1" dirty="0">
              <a:solidFill>
                <a:srgbClr val="00B050"/>
              </a:solidFill>
            </a:endParaRPr>
          </a:p>
          <a:p>
            <a:endParaRPr lang="ru-RU" sz="1600" i="1" dirty="0">
              <a:solidFill>
                <a:srgbClr val="00B050"/>
              </a:solidFill>
            </a:endParaRPr>
          </a:p>
          <a:p>
            <a:endParaRPr lang="ru-RU" sz="1600" i="1" dirty="0">
              <a:solidFill>
                <a:srgbClr val="00B050"/>
              </a:solidFill>
            </a:endParaRPr>
          </a:p>
          <a:p>
            <a:endParaRPr lang="ru-RU" sz="1600" i="1" dirty="0">
              <a:solidFill>
                <a:srgbClr val="00B050"/>
              </a:solidFill>
            </a:endParaRPr>
          </a:p>
          <a:p>
            <a:r>
              <a:rPr lang="ru-RU" sz="1600" i="1" dirty="0">
                <a:solidFill>
                  <a:srgbClr val="00B050"/>
                </a:solidFill>
              </a:rPr>
              <a:t>Перспективы развития</a:t>
            </a:r>
          </a:p>
          <a:p>
            <a:endParaRPr lang="ru-RU" sz="1600" i="1" dirty="0">
              <a:solidFill>
                <a:srgbClr val="00B050"/>
              </a:solidFill>
            </a:endParaRP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18D0AC3E-0DE3-A84F-9059-B9E039618B8D}"/>
              </a:ext>
            </a:extLst>
          </p:cNvPr>
          <p:cNvSpPr/>
          <p:nvPr/>
        </p:nvSpPr>
        <p:spPr>
          <a:xfrm>
            <a:off x="1125516" y="3881026"/>
            <a:ext cx="9641805" cy="26930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spcBef>
                <a:spcPts val="1000"/>
              </a:spcBef>
            </a:pPr>
            <a:r>
              <a:rPr lang="ru-RU" sz="1600" dirty="0">
                <a:solidFill>
                  <a:srgbClr val="000000"/>
                </a:solidFill>
              </a:rPr>
              <a:t>ОБРАЗОВАНИЕ И ИСКУССТВОВЕДЕНИЕ</a:t>
            </a:r>
          </a:p>
          <a:p>
            <a:pPr marL="457200">
              <a:spcBef>
                <a:spcPts val="1000"/>
              </a:spcBef>
            </a:pPr>
            <a:r>
              <a:rPr lang="ru-RU" sz="1600" dirty="0">
                <a:solidFill>
                  <a:srgbClr val="000000"/>
                </a:solidFill>
              </a:rPr>
              <a:t>Наша программа может рассказать пользователям  о новых для них направлениях в искусстве, художниках, галереях.</a:t>
            </a:r>
          </a:p>
          <a:p>
            <a:pPr fontAlgn="base">
              <a:spcBef>
                <a:spcPts val="1000"/>
              </a:spcBef>
            </a:pPr>
            <a:r>
              <a:rPr lang="ru-RU" sz="1600" dirty="0">
                <a:solidFill>
                  <a:srgbClr val="000000"/>
                </a:solidFill>
              </a:rPr>
              <a:t>ТУРИЗМ</a:t>
            </a:r>
          </a:p>
          <a:p>
            <a:pPr marL="457200">
              <a:spcBef>
                <a:spcPts val="1000"/>
              </a:spcBef>
            </a:pPr>
            <a:r>
              <a:rPr lang="ru-RU" sz="1600" dirty="0">
                <a:solidFill>
                  <a:srgbClr val="000000"/>
                </a:solidFill>
              </a:rPr>
              <a:t>Благодаря нашей программе, станет возможным прокладывать туристический городской маршрут в зависимости от вкусов и настроения человека, что позволит получать больше удовольствия от путешествия.</a:t>
            </a:r>
            <a:r>
              <a:rPr lang="ru-RU" sz="1600" dirty="0"/>
              <a:t/>
            </a:r>
            <a:br>
              <a:rPr lang="ru-RU" sz="1600" dirty="0"/>
            </a:br>
            <a:r>
              <a:rPr lang="ru-RU" sz="1600" dirty="0"/>
              <a:t/>
            </a:r>
            <a:br>
              <a:rPr lang="ru-RU" sz="1600" dirty="0"/>
            </a:br>
            <a:endParaRPr lang="ru-RU" sz="1600" dirty="0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BF9A21EF-BD3F-8541-BF2F-35B415B891E5}"/>
              </a:ext>
            </a:extLst>
          </p:cNvPr>
          <p:cNvSpPr/>
          <p:nvPr/>
        </p:nvSpPr>
        <p:spPr>
          <a:xfrm>
            <a:off x="1125516" y="1801953"/>
            <a:ext cx="10171134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rgbClr val="000000"/>
                </a:solidFill>
              </a:rPr>
              <a:t>Исследована предметная область … Собраны данные … Построена модель классификации … Реализованы алгоритмы и их модификации … Реализована система … Точность итогового алгоритма … Алгоритм ошибается в случаях … Алгоритм хорошо работает в случаях… </a:t>
            </a:r>
          </a:p>
          <a:p>
            <a:r>
              <a:rPr lang="ru-RU" sz="1600" dirty="0">
                <a:solidFill>
                  <a:srgbClr val="000000"/>
                </a:solidFill>
              </a:rPr>
              <a:t>Выполнено автоматизированное создание экспозиции на основе эмоциональных оценок. </a:t>
            </a:r>
            <a:endParaRPr lang="ru-RU" sz="1600" dirty="0"/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1B0C2EBF-5364-C74F-B05E-4E7156D9C27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72537">
            <a:off x="10299741" y="2795462"/>
            <a:ext cx="1434474" cy="1434474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90E398ED-BF79-4D40-B5D5-979F6EF07747}"/>
              </a:ext>
            </a:extLst>
          </p:cNvPr>
          <p:cNvSpPr txBox="1"/>
          <p:nvPr/>
        </p:nvSpPr>
        <p:spPr>
          <a:xfrm>
            <a:off x="9994900" y="6524625"/>
            <a:ext cx="168116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solidFill>
                  <a:srgbClr val="383288"/>
                </a:solidFill>
              </a:rPr>
              <a:t>[</a:t>
            </a:r>
            <a:r>
              <a:rPr lang="ru-RU" sz="800" b="1">
                <a:solidFill>
                  <a:srgbClr val="383288"/>
                </a:solidFill>
              </a:rPr>
              <a:t>Аналитика </a:t>
            </a:r>
            <a:r>
              <a:rPr lang="ru-RU" sz="800" b="1" smtClean="0">
                <a:solidFill>
                  <a:srgbClr val="383288"/>
                </a:solidFill>
              </a:rPr>
              <a:t>результатов</a:t>
            </a:r>
            <a:r>
              <a:rPr lang="en-US" sz="800" b="1" smtClean="0">
                <a:solidFill>
                  <a:srgbClr val="383288"/>
                </a:solidFill>
              </a:rPr>
              <a:t>]</a:t>
            </a:r>
            <a:endParaRPr lang="ru-RU" sz="800" b="1" dirty="0">
              <a:solidFill>
                <a:srgbClr val="383288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90C1297-00AC-414A-B811-4E763B3213C3}"/>
              </a:ext>
            </a:extLst>
          </p:cNvPr>
          <p:cNvSpPr txBox="1"/>
          <p:nvPr/>
        </p:nvSpPr>
        <p:spPr>
          <a:xfrm>
            <a:off x="340054" y="6512515"/>
            <a:ext cx="181259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solidFill>
                  <a:srgbClr val="383288"/>
                </a:solidFill>
              </a:rPr>
              <a:t>[</a:t>
            </a:r>
            <a:r>
              <a:rPr lang="ru-RU" sz="800" b="1" dirty="0">
                <a:solidFill>
                  <a:srgbClr val="383288"/>
                </a:solidFill>
              </a:rPr>
              <a:t>Краткое название</a:t>
            </a:r>
            <a:r>
              <a:rPr lang="en-US" sz="800" b="1" dirty="0">
                <a:solidFill>
                  <a:srgbClr val="383288"/>
                </a:solidFill>
              </a:rPr>
              <a:t>]</a:t>
            </a:r>
            <a:endParaRPr lang="ru-RU" sz="800" b="1" dirty="0">
              <a:solidFill>
                <a:srgbClr val="383288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6506F3E-4A74-A849-B5E9-84F3249CC2AA}"/>
              </a:ext>
            </a:extLst>
          </p:cNvPr>
          <p:cNvSpPr txBox="1"/>
          <p:nvPr/>
        </p:nvSpPr>
        <p:spPr>
          <a:xfrm>
            <a:off x="5401722" y="6512515"/>
            <a:ext cx="156000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800" b="1" dirty="0">
                <a:solidFill>
                  <a:srgbClr val="38D4D6"/>
                </a:solidFill>
              </a:rPr>
              <a:t>НАПРАВЛЕНИЕ НЕЙРО</a:t>
            </a:r>
          </a:p>
        </p:txBody>
      </p:sp>
    </p:spTree>
    <p:extLst>
      <p:ext uri="{BB962C8B-B14F-4D97-AF65-F5344CB8AC3E}">
        <p14:creationId xmlns:p14="http://schemas.microsoft.com/office/powerpoint/2010/main" val="10997173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Прямоугольный треугольник 121"/>
          <p:cNvSpPr/>
          <p:nvPr/>
        </p:nvSpPr>
        <p:spPr>
          <a:xfrm rot="16200000">
            <a:off x="8985301" y="3641300"/>
            <a:ext cx="3216699" cy="3216699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TextBox 6"/>
          <p:cNvSpPr txBox="1"/>
          <p:nvPr/>
        </p:nvSpPr>
        <p:spPr>
          <a:xfrm>
            <a:off x="901488" y="258633"/>
            <a:ext cx="12199114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383288"/>
                </a:solidFill>
              </a:rPr>
              <a:t>[</a:t>
            </a:r>
            <a:r>
              <a:rPr lang="ru-RU" sz="3600" b="1" dirty="0">
                <a:solidFill>
                  <a:srgbClr val="383288"/>
                </a:solidFill>
              </a:rPr>
              <a:t>Команда</a:t>
            </a:r>
            <a:r>
              <a:rPr lang="en-US" sz="3600" b="1" dirty="0">
                <a:solidFill>
                  <a:srgbClr val="383288"/>
                </a:solidFill>
              </a:rPr>
              <a:t>]</a:t>
            </a:r>
            <a:r>
              <a:rPr lang="ru-RU" sz="3600" b="1" dirty="0">
                <a:solidFill>
                  <a:srgbClr val="383288"/>
                </a:solidFill>
              </a:rPr>
              <a:t> </a:t>
            </a:r>
          </a:p>
          <a:p>
            <a:r>
              <a:rPr lang="ru-RU" sz="1600" i="1" dirty="0">
                <a:solidFill>
                  <a:srgbClr val="00B050"/>
                </a:solidFill>
              </a:rPr>
              <a:t>(название или номер(-а) группы)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4788" y="3672715"/>
            <a:ext cx="209082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Иванова Инна, </a:t>
            </a:r>
          </a:p>
          <a:p>
            <a:r>
              <a:rPr lang="ru-RU" sz="1600" dirty="0"/>
              <a:t>руководитель,</a:t>
            </a:r>
          </a:p>
          <a:p>
            <a:r>
              <a:rPr lang="en-US" sz="1600" dirty="0" err="1"/>
              <a:t>ivanova@mail.ru</a:t>
            </a:r>
            <a:endParaRPr lang="ru-RU" sz="1600" dirty="0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566CEFB7-2CD7-8749-8735-6830D1C48B22}"/>
              </a:ext>
            </a:extLst>
          </p:cNvPr>
          <p:cNvSpPr/>
          <p:nvPr/>
        </p:nvSpPr>
        <p:spPr>
          <a:xfrm>
            <a:off x="479393" y="5645179"/>
            <a:ext cx="866191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i="1" dirty="0">
                <a:solidFill>
                  <a:srgbClr val="00B050"/>
                </a:solidFill>
              </a:rPr>
              <a:t>Необходимо также добавить контактные данные, чтобы в случае заинтересованностью Вашей работой коллеги могли с Вами связаться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AD6D18E-9765-1942-9083-A95A93C075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62984" y="1759516"/>
            <a:ext cx="1992294" cy="1731319"/>
          </a:xfr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ru-RU" sz="1600" i="1" dirty="0">
                <a:solidFill>
                  <a:schemeClr val="accent2"/>
                </a:solidFill>
              </a:rPr>
              <a:t>Место для фото</a:t>
            </a:r>
          </a:p>
        </p:txBody>
      </p: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C62A5914-8BE4-F843-B4C0-CA95BBEFFCA5}"/>
              </a:ext>
            </a:extLst>
          </p:cNvPr>
          <p:cNvCxnSpPr>
            <a:cxnSpLocks/>
          </p:cNvCxnSpPr>
          <p:nvPr/>
        </p:nvCxnSpPr>
        <p:spPr>
          <a:xfrm>
            <a:off x="-8796" y="6377178"/>
            <a:ext cx="9699180" cy="0"/>
          </a:xfrm>
          <a:prstGeom prst="line">
            <a:avLst/>
          </a:prstGeom>
          <a:ln w="38100"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ED352CC-693A-3640-9271-B47CA90CD5D6}"/>
              </a:ext>
            </a:extLst>
          </p:cNvPr>
          <p:cNvSpPr txBox="1"/>
          <p:nvPr/>
        </p:nvSpPr>
        <p:spPr>
          <a:xfrm>
            <a:off x="3201769" y="3672714"/>
            <a:ext cx="19974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Петров Потап, </a:t>
            </a:r>
          </a:p>
          <a:p>
            <a:r>
              <a:rPr lang="ru-RU" sz="1600" dirty="0"/>
              <a:t>архитектор</a:t>
            </a:r>
          </a:p>
        </p:txBody>
      </p:sp>
      <p:sp>
        <p:nvSpPr>
          <p:cNvPr id="17" name="Объект 2">
            <a:extLst>
              <a:ext uri="{FF2B5EF4-FFF2-40B4-BE49-F238E27FC236}">
                <a16:creationId xmlns:a16="http://schemas.microsoft.com/office/drawing/2014/main" id="{C1B810C7-4642-C849-8920-60FA459D0D2E}"/>
              </a:ext>
            </a:extLst>
          </p:cNvPr>
          <p:cNvSpPr txBox="1">
            <a:spLocks/>
          </p:cNvSpPr>
          <p:nvPr/>
        </p:nvSpPr>
        <p:spPr>
          <a:xfrm>
            <a:off x="3206893" y="1753654"/>
            <a:ext cx="1992294" cy="1731319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600" i="1">
                <a:solidFill>
                  <a:schemeClr val="accent2"/>
                </a:solidFill>
              </a:rPr>
              <a:t>Место для фото</a:t>
            </a:r>
            <a:endParaRPr lang="ru-RU" sz="1600" i="1" dirty="0">
              <a:solidFill>
                <a:schemeClr val="accent2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E6BD5F0-5087-E34B-BAFE-491E98813D75}"/>
              </a:ext>
            </a:extLst>
          </p:cNvPr>
          <p:cNvSpPr txBox="1"/>
          <p:nvPr/>
        </p:nvSpPr>
        <p:spPr>
          <a:xfrm>
            <a:off x="5798802" y="3666851"/>
            <a:ext cx="22197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Симонова Симона, </a:t>
            </a:r>
          </a:p>
          <a:p>
            <a:r>
              <a:rPr lang="ru-RU" sz="1600" dirty="0"/>
              <a:t>разработчик</a:t>
            </a:r>
          </a:p>
        </p:txBody>
      </p:sp>
      <p:sp>
        <p:nvSpPr>
          <p:cNvPr id="19" name="Объект 2">
            <a:extLst>
              <a:ext uri="{FF2B5EF4-FFF2-40B4-BE49-F238E27FC236}">
                <a16:creationId xmlns:a16="http://schemas.microsoft.com/office/drawing/2014/main" id="{7AE1F650-8694-7149-8B1C-77B9663CB93C}"/>
              </a:ext>
            </a:extLst>
          </p:cNvPr>
          <p:cNvSpPr txBox="1">
            <a:spLocks/>
          </p:cNvSpPr>
          <p:nvPr/>
        </p:nvSpPr>
        <p:spPr>
          <a:xfrm>
            <a:off x="5826998" y="1753652"/>
            <a:ext cx="1992294" cy="1731319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600" i="1">
                <a:solidFill>
                  <a:schemeClr val="accent2"/>
                </a:solidFill>
              </a:rPr>
              <a:t>Место для фото</a:t>
            </a:r>
            <a:endParaRPr lang="ru-RU" sz="1600" i="1" dirty="0">
              <a:solidFill>
                <a:schemeClr val="accent2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2AFFF01-3A2F-6549-95DB-8ABFB69005C2}"/>
              </a:ext>
            </a:extLst>
          </p:cNvPr>
          <p:cNvSpPr txBox="1"/>
          <p:nvPr/>
        </p:nvSpPr>
        <p:spPr>
          <a:xfrm>
            <a:off x="8365782" y="3666850"/>
            <a:ext cx="220257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Тихонов Тимофей, </a:t>
            </a:r>
          </a:p>
          <a:p>
            <a:r>
              <a:rPr lang="ru-RU" sz="1600" dirty="0"/>
              <a:t>аналитик</a:t>
            </a:r>
          </a:p>
        </p:txBody>
      </p:sp>
      <p:sp>
        <p:nvSpPr>
          <p:cNvPr id="21" name="Объект 2">
            <a:extLst>
              <a:ext uri="{FF2B5EF4-FFF2-40B4-BE49-F238E27FC236}">
                <a16:creationId xmlns:a16="http://schemas.microsoft.com/office/drawing/2014/main" id="{46B0043D-FC96-6041-B03B-D9BCFD49833F}"/>
              </a:ext>
            </a:extLst>
          </p:cNvPr>
          <p:cNvSpPr txBox="1">
            <a:spLocks/>
          </p:cNvSpPr>
          <p:nvPr/>
        </p:nvSpPr>
        <p:spPr>
          <a:xfrm>
            <a:off x="8370907" y="1747790"/>
            <a:ext cx="1992294" cy="1731319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600" i="1">
                <a:solidFill>
                  <a:schemeClr val="accent2"/>
                </a:solidFill>
              </a:rPr>
              <a:t>Место для фото</a:t>
            </a:r>
            <a:endParaRPr lang="ru-RU" sz="1600" i="1" dirty="0">
              <a:solidFill>
                <a:schemeClr val="accent2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0E398ED-BF79-4D40-B5D5-979F6EF07747}"/>
              </a:ext>
            </a:extLst>
          </p:cNvPr>
          <p:cNvSpPr txBox="1"/>
          <p:nvPr/>
        </p:nvSpPr>
        <p:spPr>
          <a:xfrm>
            <a:off x="10943431" y="6524625"/>
            <a:ext cx="146526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smtClean="0">
                <a:solidFill>
                  <a:srgbClr val="383288"/>
                </a:solidFill>
              </a:rPr>
              <a:t>[</a:t>
            </a:r>
            <a:r>
              <a:rPr lang="ru-RU" sz="800" b="1" smtClean="0">
                <a:solidFill>
                  <a:srgbClr val="383288"/>
                </a:solidFill>
              </a:rPr>
              <a:t>Команда</a:t>
            </a:r>
            <a:r>
              <a:rPr lang="en-US" sz="800" b="1" smtClean="0">
                <a:solidFill>
                  <a:srgbClr val="383288"/>
                </a:solidFill>
              </a:rPr>
              <a:t>]</a:t>
            </a:r>
            <a:endParaRPr lang="ru-RU" sz="800" b="1" dirty="0">
              <a:solidFill>
                <a:srgbClr val="383288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90C1297-00AC-414A-B811-4E763B3213C3}"/>
              </a:ext>
            </a:extLst>
          </p:cNvPr>
          <p:cNvSpPr txBox="1"/>
          <p:nvPr/>
        </p:nvSpPr>
        <p:spPr>
          <a:xfrm>
            <a:off x="340054" y="6512515"/>
            <a:ext cx="181259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solidFill>
                  <a:srgbClr val="383288"/>
                </a:solidFill>
              </a:rPr>
              <a:t>[</a:t>
            </a:r>
            <a:r>
              <a:rPr lang="ru-RU" sz="800" b="1" dirty="0">
                <a:solidFill>
                  <a:srgbClr val="383288"/>
                </a:solidFill>
              </a:rPr>
              <a:t>Краткое название</a:t>
            </a:r>
            <a:r>
              <a:rPr lang="en-US" sz="800" b="1" dirty="0">
                <a:solidFill>
                  <a:srgbClr val="383288"/>
                </a:solidFill>
              </a:rPr>
              <a:t>]</a:t>
            </a:r>
            <a:endParaRPr lang="ru-RU" sz="800" b="1" dirty="0">
              <a:solidFill>
                <a:srgbClr val="383288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6506F3E-4A74-A849-B5E9-84F3249CC2AA}"/>
              </a:ext>
            </a:extLst>
          </p:cNvPr>
          <p:cNvSpPr txBox="1"/>
          <p:nvPr/>
        </p:nvSpPr>
        <p:spPr>
          <a:xfrm>
            <a:off x="5401722" y="6512515"/>
            <a:ext cx="156000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800" b="1" dirty="0">
                <a:solidFill>
                  <a:srgbClr val="38D4D6"/>
                </a:solidFill>
              </a:rPr>
              <a:t>НАПРАВЛЕНИЕ НЕЙРО</a:t>
            </a:r>
          </a:p>
        </p:txBody>
      </p:sp>
    </p:spTree>
    <p:extLst>
      <p:ext uri="{BB962C8B-B14F-4D97-AF65-F5344CB8AC3E}">
        <p14:creationId xmlns:p14="http://schemas.microsoft.com/office/powerpoint/2010/main" val="42025067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634364" y="2199900"/>
            <a:ext cx="667676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800" b="1" dirty="0" smtClean="0">
                <a:solidFill>
                  <a:schemeClr val="bg1">
                    <a:lumMod val="50000"/>
                  </a:schemeClr>
                </a:solidFill>
                <a:latin typeface="+mj-lt"/>
              </a:rPr>
              <a:t>Здесь можно написать цитату, высказывание или утверждение</a:t>
            </a:r>
          </a:p>
          <a:p>
            <a:pPr>
              <a:lnSpc>
                <a:spcPct val="150000"/>
              </a:lnSpc>
            </a:pPr>
            <a:endParaRPr lang="ru-RU" sz="2800" b="1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490944" y="4767828"/>
            <a:ext cx="27245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dirty="0" smtClean="0">
                <a:solidFill>
                  <a:schemeClr val="bg1">
                    <a:lumMod val="50000"/>
                  </a:schemeClr>
                </a:solidFill>
                <a:latin typeface="+mj-lt"/>
              </a:rPr>
              <a:t>Автор Цитаты</a:t>
            </a:r>
            <a:endParaRPr lang="ru-RU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5" name="Прямоугольный треугольник 4"/>
          <p:cNvSpPr/>
          <p:nvPr/>
        </p:nvSpPr>
        <p:spPr>
          <a:xfrm rot="13507742">
            <a:off x="-1978527" y="1374930"/>
            <a:ext cx="3938390" cy="3938390"/>
          </a:xfrm>
          <a:prstGeom prst="rtTriangle">
            <a:avLst/>
          </a:prstGeom>
          <a:solidFill>
            <a:srgbClr val="1EDDC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359" y="1738503"/>
            <a:ext cx="3952875" cy="3600450"/>
          </a:xfrm>
          <a:prstGeom prst="rect">
            <a:avLst/>
          </a:prstGeom>
        </p:spPr>
      </p:pic>
      <p:sp>
        <p:nvSpPr>
          <p:cNvPr id="9" name="Прямоугольный треугольник 8"/>
          <p:cNvSpPr/>
          <p:nvPr/>
        </p:nvSpPr>
        <p:spPr>
          <a:xfrm rot="13507742">
            <a:off x="816009" y="5306117"/>
            <a:ext cx="855702" cy="855702"/>
          </a:xfrm>
          <a:prstGeom prst="rtTriangle">
            <a:avLst/>
          </a:prstGeom>
          <a:solidFill>
            <a:srgbClr val="B8EC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TextBox 9"/>
          <p:cNvSpPr txBox="1"/>
          <p:nvPr/>
        </p:nvSpPr>
        <p:spPr>
          <a:xfrm>
            <a:off x="746094" y="243211"/>
            <a:ext cx="107677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383288"/>
                </a:solidFill>
              </a:rPr>
              <a:t>[</a:t>
            </a:r>
            <a:r>
              <a:rPr lang="ru-RU" sz="3600" b="1" dirty="0">
                <a:solidFill>
                  <a:srgbClr val="383288"/>
                </a:solidFill>
              </a:rPr>
              <a:t>Вопросы</a:t>
            </a:r>
            <a:r>
              <a:rPr lang="en-US" sz="3600" b="1" dirty="0">
                <a:solidFill>
                  <a:srgbClr val="383288"/>
                </a:solidFill>
              </a:rPr>
              <a:t>]</a:t>
            </a:r>
            <a:endParaRPr lang="ru-RU" sz="3600" b="1" dirty="0">
              <a:solidFill>
                <a:srgbClr val="383288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0E398ED-BF79-4D40-B5D5-979F6EF07747}"/>
              </a:ext>
            </a:extLst>
          </p:cNvPr>
          <p:cNvSpPr txBox="1"/>
          <p:nvPr/>
        </p:nvSpPr>
        <p:spPr>
          <a:xfrm>
            <a:off x="10943431" y="6509340"/>
            <a:ext cx="146526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smtClean="0">
                <a:solidFill>
                  <a:srgbClr val="383288"/>
                </a:solidFill>
              </a:rPr>
              <a:t>[</a:t>
            </a:r>
            <a:r>
              <a:rPr lang="ru-RU" sz="800" b="1" smtClean="0">
                <a:solidFill>
                  <a:srgbClr val="383288"/>
                </a:solidFill>
              </a:rPr>
              <a:t>Вопросы</a:t>
            </a:r>
            <a:r>
              <a:rPr lang="en-US" sz="800" b="1" smtClean="0">
                <a:solidFill>
                  <a:srgbClr val="383288"/>
                </a:solidFill>
              </a:rPr>
              <a:t>]</a:t>
            </a:r>
            <a:endParaRPr lang="ru-RU" sz="800" b="1" dirty="0">
              <a:solidFill>
                <a:srgbClr val="383288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90C1297-00AC-414A-B811-4E763B3213C3}"/>
              </a:ext>
            </a:extLst>
          </p:cNvPr>
          <p:cNvSpPr txBox="1"/>
          <p:nvPr/>
        </p:nvSpPr>
        <p:spPr>
          <a:xfrm>
            <a:off x="340054" y="6512515"/>
            <a:ext cx="181259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solidFill>
                  <a:srgbClr val="383288"/>
                </a:solidFill>
              </a:rPr>
              <a:t>[</a:t>
            </a:r>
            <a:r>
              <a:rPr lang="ru-RU" sz="800" b="1" dirty="0">
                <a:solidFill>
                  <a:srgbClr val="383288"/>
                </a:solidFill>
              </a:rPr>
              <a:t>Краткое название</a:t>
            </a:r>
            <a:r>
              <a:rPr lang="en-US" sz="800" b="1" dirty="0">
                <a:solidFill>
                  <a:srgbClr val="383288"/>
                </a:solidFill>
              </a:rPr>
              <a:t>]</a:t>
            </a:r>
            <a:endParaRPr lang="ru-RU" sz="800" b="1" dirty="0">
              <a:solidFill>
                <a:srgbClr val="383288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6506F3E-4A74-A849-B5E9-84F3249CC2AA}"/>
              </a:ext>
            </a:extLst>
          </p:cNvPr>
          <p:cNvSpPr txBox="1"/>
          <p:nvPr/>
        </p:nvSpPr>
        <p:spPr>
          <a:xfrm>
            <a:off x="5401722" y="6512515"/>
            <a:ext cx="156000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800" b="1" dirty="0">
                <a:solidFill>
                  <a:srgbClr val="38D4D6"/>
                </a:solidFill>
              </a:rPr>
              <a:t>НАПРАВЛЕНИЕ НЕЙРО</a:t>
            </a:r>
          </a:p>
        </p:txBody>
      </p:sp>
    </p:spTree>
    <p:extLst>
      <p:ext uri="{BB962C8B-B14F-4D97-AF65-F5344CB8AC3E}">
        <p14:creationId xmlns:p14="http://schemas.microsoft.com/office/powerpoint/2010/main" val="28718833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extBox 82"/>
          <p:cNvSpPr txBox="1"/>
          <p:nvPr/>
        </p:nvSpPr>
        <p:spPr>
          <a:xfrm>
            <a:off x="2624825" y="2180979"/>
            <a:ext cx="694234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8000" b="1" dirty="0">
                <a:solidFill>
                  <a:schemeClr val="bg1"/>
                </a:solidFill>
                <a:latin typeface="+mj-lt"/>
              </a:rPr>
              <a:t>КУРС</a:t>
            </a:r>
          </a:p>
        </p:txBody>
      </p:sp>
      <p:sp>
        <p:nvSpPr>
          <p:cNvPr id="81" name="Прямоугольник 80"/>
          <p:cNvSpPr/>
          <p:nvPr/>
        </p:nvSpPr>
        <p:spPr>
          <a:xfrm>
            <a:off x="0" y="132496"/>
            <a:ext cx="12192000" cy="779373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                                 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-137747" y="229794"/>
            <a:ext cx="124674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b="1" dirty="0">
                <a:solidFill>
                  <a:schemeClr val="bg1"/>
                </a:solidFill>
              </a:rPr>
              <a:t>РЕКОМЕНДАЦИИ К ДОКЛАДУ, НЕ ЗАБЫТЬ УДАЛИТЬ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53B7785-62B4-BD49-B771-31C22AFD7ED1}"/>
              </a:ext>
            </a:extLst>
          </p:cNvPr>
          <p:cNvSpPr txBox="1"/>
          <p:nvPr/>
        </p:nvSpPr>
        <p:spPr>
          <a:xfrm>
            <a:off x="263769" y="1114676"/>
            <a:ext cx="11324491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ru-RU" sz="1600" dirty="0"/>
              <a:t>Обязательно составьте план выступления. В нем должны быть отражены важные идеи выступления. Репетируя доклад, держите план перед глазами.</a:t>
            </a:r>
          </a:p>
          <a:p>
            <a:pPr marL="285750" indent="-285750">
              <a:buFontTx/>
              <a:buChar char="-"/>
            </a:pPr>
            <a:r>
              <a:rPr lang="ru-RU" sz="1600" dirty="0"/>
              <a:t>Мышление Вашего слушателя устроено так, что он способен одновременно удерживать в голове 3-4 идеи. Используйте это для составления плана. Оптимально - три пункта, в каждом - три подпункта.  </a:t>
            </a:r>
          </a:p>
          <a:p>
            <a:pPr marL="285750" indent="-285750">
              <a:buFontTx/>
              <a:buChar char="-"/>
            </a:pPr>
            <a:r>
              <a:rPr lang="ru-RU" sz="1600" dirty="0"/>
              <a:t>Во время репетиции несколько раз запишите свой голос и затем прослушайте. Это поможет избежать ошибки в речи, кроме того, Вы увидите проблемные места и сможете их исправить.</a:t>
            </a:r>
          </a:p>
          <a:p>
            <a:pPr marL="285750" indent="-285750">
              <a:buFontTx/>
              <a:buChar char="-"/>
            </a:pPr>
            <a:r>
              <a:rPr lang="ru-RU" sz="1600" dirty="0"/>
              <a:t>Поставьте в соответствие каждому подпункту приблизительное время, которое он занимает в докладе. Это поможет отрегулировать время выступления. </a:t>
            </a:r>
          </a:p>
          <a:p>
            <a:pPr marL="285750" indent="-285750">
              <a:buFontTx/>
              <a:buChar char="-"/>
            </a:pPr>
            <a:r>
              <a:rPr lang="ru-RU" sz="1600" dirty="0"/>
              <a:t>Если Вы чувствуете себя неуверенно, боитесь или стесняетесь выступать, запишите и выучите свою речь наизусть. Это не значит, что Вы будете выступать четко по написанному, но в момент волнения вызубренные строки сами «всплывут» в нужный момент, если Вы собьетесь. Запись выступления на 7 минут занимает примерно полторы страницы текста (формат А4, шрифт 12</a:t>
            </a:r>
            <a:r>
              <a:rPr lang="en-US" sz="1600" dirty="0" err="1"/>
              <a:t>pt</a:t>
            </a:r>
            <a:r>
              <a:rPr lang="en-US" sz="1600" dirty="0"/>
              <a:t>).</a:t>
            </a:r>
            <a:endParaRPr lang="ru-RU" sz="1600" dirty="0"/>
          </a:p>
          <a:p>
            <a:pPr marL="285750" indent="-285750">
              <a:buFontTx/>
              <a:buChar char="-"/>
            </a:pPr>
            <a:r>
              <a:rPr lang="ru-RU" sz="1600" dirty="0"/>
              <a:t>Никогда не читайте слайд дословно. Лучше всего, если на слайде будет написана подробная информация, а словами будет рассказываться их содержательный смысл. Формулировки на слайде должны быть короткими, максимум — две строки на фразу. Чтение длинной фразы отвлекает от речи. Короткая фраза легче запоминается.</a:t>
            </a:r>
          </a:p>
          <a:p>
            <a:pPr marL="285750" indent="-285750">
              <a:buFontTx/>
              <a:buChar char="-"/>
            </a:pPr>
            <a:r>
              <a:rPr lang="ru-RU" sz="1600" dirty="0"/>
              <a:t>Допустимо переключение два слайда в минуту, но не быстрее. Слушатели должны успеть воспринять информацию и со слайда, и на слух. </a:t>
            </a:r>
          </a:p>
          <a:p>
            <a:pPr marL="285750" indent="-285750">
              <a:buFontTx/>
              <a:buChar char="-"/>
            </a:pPr>
            <a:r>
              <a:rPr lang="ru-RU" sz="1600" dirty="0"/>
              <a:t>Не повторяйте одну и ту же мысль, пусть даже другими словами — время дорого. Над каждой фразой надо критически подумать: поймут ли её слушатели, достаточно ли у них специальных знаний, чтобы её понять? Непонятные фразы следует безжалостно изымать из презентации. </a:t>
            </a:r>
          </a:p>
        </p:txBody>
      </p:sp>
    </p:spTree>
    <p:extLst>
      <p:ext uri="{BB962C8B-B14F-4D97-AF65-F5344CB8AC3E}">
        <p14:creationId xmlns:p14="http://schemas.microsoft.com/office/powerpoint/2010/main" val="9443198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Пользовательские 5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A7988B"/>
      </a:accent2>
      <a:accent3>
        <a:srgbClr val="6E0C24"/>
      </a:accent3>
      <a:accent4>
        <a:srgbClr val="FFC000"/>
      </a:accent4>
      <a:accent5>
        <a:srgbClr val="5B9BD5"/>
      </a:accent5>
      <a:accent6>
        <a:srgbClr val="1EDCC3"/>
      </a:accent6>
      <a:hlink>
        <a:srgbClr val="0563C1"/>
      </a:hlink>
      <a:folHlink>
        <a:srgbClr val="954F72"/>
      </a:folHlink>
    </a:clrScheme>
    <a:fontScheme name="Калашников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6671</TotalTime>
  <Words>756</Words>
  <Application>Microsoft Office PowerPoint</Application>
  <PresentationFormat>Широкоэкранный</PresentationFormat>
  <Paragraphs>211</Paragraphs>
  <Slides>14</Slides>
  <Notes>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8" baseType="lpstr">
      <vt:lpstr>Arial</vt:lpstr>
      <vt:lpstr>Calibri</vt:lpstr>
      <vt:lpstr>Verdana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OAO "Koncern Kalashnikov"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Margarita Shirobokova</dc:creator>
  <cp:lastModifiedBy>Дулотин Никита Александрович</cp:lastModifiedBy>
  <cp:revision>368</cp:revision>
  <dcterms:created xsi:type="dcterms:W3CDTF">2019-07-19T08:59:36Z</dcterms:created>
  <dcterms:modified xsi:type="dcterms:W3CDTF">2026-04-16T12:03:24Z</dcterms:modified>
</cp:coreProperties>
</file>